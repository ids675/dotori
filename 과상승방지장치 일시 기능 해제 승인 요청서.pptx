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A2D8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0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5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11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99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81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95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51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36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08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691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-1" y="9512662"/>
            <a:ext cx="6858001" cy="39333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48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162844" y="9576352"/>
            <a:ext cx="2729212" cy="2659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49846" tIns="0" rIns="49846" bIns="0" anchor="ctr"/>
          <a:lstStyle/>
          <a:p>
            <a:pPr algn="l" defTabSz="623122" eaLnBrk="0" latinLnBrk="0" hangingPunct="0">
              <a:tabLst>
                <a:tab pos="309912" algn="l"/>
              </a:tabLst>
              <a:defRPr/>
            </a:pPr>
            <a:r>
              <a:rPr lang="ko-KR" altLang="en-US" sz="1000" b="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+mn-ea"/>
                <a:cs typeface="Arial" pitchFamily="34" charset="0"/>
              </a:rPr>
              <a:t>현대엔지니어링 자산관리사업본부</a:t>
            </a:r>
            <a:endParaRPr lang="en-US" altLang="ko-KR" sz="1000" b="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+mn-ea"/>
              <a:cs typeface="Arial" pitchFamily="34" charset="0"/>
            </a:endParaRPr>
          </a:p>
        </p:txBody>
      </p:sp>
      <p:sp>
        <p:nvSpPr>
          <p:cNvPr id="26" name="직사각형 25"/>
          <p:cNvSpPr/>
          <p:nvPr userDrawn="1"/>
        </p:nvSpPr>
        <p:spPr>
          <a:xfrm>
            <a:off x="1594882" y="9518424"/>
            <a:ext cx="3668233" cy="421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 </a:t>
            </a:r>
            <a:fld id="{CC85CB43-4CD3-4D65-AF0A-CE168E9E307D}" type="slidenum"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‹#›</a:t>
            </a:fld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55444FD-0C9C-F918-7392-64E35D9765BA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237" t="11466" r="54545" b="80134"/>
          <a:stretch/>
        </p:blipFill>
        <p:spPr>
          <a:xfrm>
            <a:off x="5556250" y="9546899"/>
            <a:ext cx="1191134" cy="3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6248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895F-117E-404F-BAFA-D38F3F95170A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25233-60B9-4418-BDB8-3FA1851D7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22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34999" y="176609"/>
            <a:ext cx="6588000" cy="924709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414613"/>
              </p:ext>
            </p:extLst>
          </p:nvPr>
        </p:nvGraphicFramePr>
        <p:xfrm>
          <a:off x="215837" y="252604"/>
          <a:ext cx="6439925" cy="97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9925">
                  <a:extLst>
                    <a:ext uri="{9D8B030D-6E8A-4147-A177-3AD203B41FA5}">
                      <a16:colId xmlns:a16="http://schemas.microsoft.com/office/drawing/2014/main" val="1845743726"/>
                    </a:ext>
                  </a:extLst>
                </a:gridCol>
              </a:tblGrid>
              <a:tr h="973402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2800" b="1" u="sng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Arial" pitchFamily="34" charset="0"/>
                        </a:rPr>
                        <a:t>과상승방지장치 일시 기능 해제 승인서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3839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95146"/>
              </p:ext>
            </p:extLst>
          </p:nvPr>
        </p:nvGraphicFramePr>
        <p:xfrm>
          <a:off x="215837" y="1307073"/>
          <a:ext cx="6439925" cy="520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97">
                  <a:extLst>
                    <a:ext uri="{9D8B030D-6E8A-4147-A177-3AD203B41FA5}">
                      <a16:colId xmlns:a16="http://schemas.microsoft.com/office/drawing/2014/main" val="1621146485"/>
                    </a:ext>
                  </a:extLst>
                </a:gridCol>
                <a:gridCol w="855352">
                  <a:extLst>
                    <a:ext uri="{9D8B030D-6E8A-4147-A177-3AD203B41FA5}">
                      <a16:colId xmlns:a16="http://schemas.microsoft.com/office/drawing/2014/main" val="2263431985"/>
                    </a:ext>
                  </a:extLst>
                </a:gridCol>
                <a:gridCol w="1296178">
                  <a:extLst>
                    <a:ext uri="{9D8B030D-6E8A-4147-A177-3AD203B41FA5}">
                      <a16:colId xmlns:a16="http://schemas.microsoft.com/office/drawing/2014/main" val="2756032500"/>
                    </a:ext>
                  </a:extLst>
                </a:gridCol>
                <a:gridCol w="1593322">
                  <a:extLst>
                    <a:ext uri="{9D8B030D-6E8A-4147-A177-3AD203B41FA5}">
                      <a16:colId xmlns:a16="http://schemas.microsoft.com/office/drawing/2014/main" val="924735483"/>
                    </a:ext>
                  </a:extLst>
                </a:gridCol>
                <a:gridCol w="1083563">
                  <a:extLst>
                    <a:ext uri="{9D8B030D-6E8A-4147-A177-3AD203B41FA5}">
                      <a16:colId xmlns:a16="http://schemas.microsoft.com/office/drawing/2014/main" val="3503466286"/>
                    </a:ext>
                  </a:extLst>
                </a:gridCol>
                <a:gridCol w="794613">
                  <a:extLst>
                    <a:ext uri="{9D8B030D-6E8A-4147-A177-3AD203B41FA5}">
                      <a16:colId xmlns:a16="http://schemas.microsoft.com/office/drawing/2014/main" val="2011003321"/>
                    </a:ext>
                  </a:extLst>
                </a:gridCol>
              </a:tblGrid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구    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□ </a:t>
                      </a:r>
                      <a:r>
                        <a:rPr lang="ko-KR" altLang="en-US" sz="20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안전바</a:t>
                      </a: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  </a:t>
                      </a: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□ </a:t>
                      </a:r>
                      <a:r>
                        <a:rPr lang="ko-KR" altLang="en-US" sz="20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방지봉</a:t>
                      </a:r>
                      <a:endParaRPr lang="ko-KR" altLang="en-US" sz="2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919472"/>
                  </a:ext>
                </a:extLst>
              </a:tr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작업내용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00000</a:t>
                      </a: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754585"/>
                  </a:ext>
                </a:extLst>
              </a:tr>
              <a:tr h="14650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해제 사유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00000</a:t>
                      </a: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738098"/>
                  </a:ext>
                </a:extLst>
              </a:tr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일시 기능 해제 기간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최대 </a:t>
                      </a: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일</a:t>
                      </a: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2023. 00. 00(</a:t>
                      </a:r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○</a:t>
                      </a: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  00:00~00:00</a:t>
                      </a: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046866"/>
                  </a:ext>
                </a:extLst>
              </a:tr>
              <a:tr h="7482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승인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요청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작업수행조직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㈜</a:t>
                      </a:r>
                      <a:r>
                        <a:rPr lang="en-US" altLang="ko-KR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00000</a:t>
                      </a:r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홍길동</a:t>
                      </a:r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서명</a:t>
                      </a:r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1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753202"/>
                  </a:ext>
                </a:extLst>
              </a:tr>
              <a:tr h="7482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HEC</a:t>
                      </a:r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책임자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현대엔지니어링㈜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홍길동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서명</a:t>
                      </a:r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1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49705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15837" y="6641744"/>
            <a:ext cx="6507162" cy="1512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작업 중 구조물 간섭 등 불가피한 사유에 한하여 일시적으로 해제가 가능합니다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과상승방지장치는 일시 기능 해제 사유가 없어지거나 승인된 해제 기간이 종료된 경우 즉시</a:t>
            </a:r>
            <a:b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</a:b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원상복구 바랍니다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안전바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또는 </a:t>
            </a:r>
            <a:r>
              <a:rPr lang="ko-KR" altLang="en-US" sz="12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방지봉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중 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1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개에 한하여 해제가 가능합니다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 (2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개 안전장치 동시 해제 불가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o-KR" altLang="en-US" sz="1400" kern="0" dirty="0">
              <a:ln>
                <a:solidFill>
                  <a:prstClr val="white">
                    <a:alpha val="0"/>
                  </a:prstClr>
                </a:solidFill>
              </a:ln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9" y="8945376"/>
            <a:ext cx="1486229" cy="281526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2191208" y="8945376"/>
            <a:ext cx="3761917" cy="281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OOOOO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현장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108404" y="1422803"/>
            <a:ext cx="535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ko-KR" altLang="en-US" sz="2400" b="1" dirty="0">
                <a:solidFill>
                  <a:srgbClr val="0000FF"/>
                </a:solidFill>
                <a:latin typeface="+mn-ea"/>
              </a:rPr>
              <a:t> </a:t>
            </a:r>
            <a:endParaRPr lang="en-US" altLang="ko-KR" sz="24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8404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34999" y="176609"/>
            <a:ext cx="6588000" cy="924709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30198"/>
              </p:ext>
            </p:extLst>
          </p:nvPr>
        </p:nvGraphicFramePr>
        <p:xfrm>
          <a:off x="215837" y="252604"/>
          <a:ext cx="6439925" cy="97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9925">
                  <a:extLst>
                    <a:ext uri="{9D8B030D-6E8A-4147-A177-3AD203B41FA5}">
                      <a16:colId xmlns:a16="http://schemas.microsoft.com/office/drawing/2014/main" val="1845743726"/>
                    </a:ext>
                  </a:extLst>
                </a:gridCol>
              </a:tblGrid>
              <a:tr h="973402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2800" b="1" u="sng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Arial" pitchFamily="34" charset="0"/>
                        </a:rPr>
                        <a:t>과상승방지장치 일시 기능 해제 승인서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38395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16178"/>
              </p:ext>
            </p:extLst>
          </p:nvPr>
        </p:nvGraphicFramePr>
        <p:xfrm>
          <a:off x="215837" y="1307073"/>
          <a:ext cx="6439925" cy="520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97">
                  <a:extLst>
                    <a:ext uri="{9D8B030D-6E8A-4147-A177-3AD203B41FA5}">
                      <a16:colId xmlns:a16="http://schemas.microsoft.com/office/drawing/2014/main" val="1621146485"/>
                    </a:ext>
                  </a:extLst>
                </a:gridCol>
                <a:gridCol w="855352">
                  <a:extLst>
                    <a:ext uri="{9D8B030D-6E8A-4147-A177-3AD203B41FA5}">
                      <a16:colId xmlns:a16="http://schemas.microsoft.com/office/drawing/2014/main" val="2263431985"/>
                    </a:ext>
                  </a:extLst>
                </a:gridCol>
                <a:gridCol w="1296178">
                  <a:extLst>
                    <a:ext uri="{9D8B030D-6E8A-4147-A177-3AD203B41FA5}">
                      <a16:colId xmlns:a16="http://schemas.microsoft.com/office/drawing/2014/main" val="2756032500"/>
                    </a:ext>
                  </a:extLst>
                </a:gridCol>
                <a:gridCol w="1593322">
                  <a:extLst>
                    <a:ext uri="{9D8B030D-6E8A-4147-A177-3AD203B41FA5}">
                      <a16:colId xmlns:a16="http://schemas.microsoft.com/office/drawing/2014/main" val="924735483"/>
                    </a:ext>
                  </a:extLst>
                </a:gridCol>
                <a:gridCol w="1083563">
                  <a:extLst>
                    <a:ext uri="{9D8B030D-6E8A-4147-A177-3AD203B41FA5}">
                      <a16:colId xmlns:a16="http://schemas.microsoft.com/office/drawing/2014/main" val="3503466286"/>
                    </a:ext>
                  </a:extLst>
                </a:gridCol>
                <a:gridCol w="794613">
                  <a:extLst>
                    <a:ext uri="{9D8B030D-6E8A-4147-A177-3AD203B41FA5}">
                      <a16:colId xmlns:a16="http://schemas.microsoft.com/office/drawing/2014/main" val="2011003321"/>
                    </a:ext>
                  </a:extLst>
                </a:gridCol>
              </a:tblGrid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구     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□ </a:t>
                      </a:r>
                      <a:r>
                        <a:rPr lang="ko-KR" altLang="en-US" sz="20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안전바</a:t>
                      </a: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/  </a:t>
                      </a:r>
                      <a:r>
                        <a:rPr lang="ko-KR" altLang="en-US" sz="20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□ </a:t>
                      </a:r>
                      <a:r>
                        <a:rPr lang="ko-KR" altLang="en-US" sz="2000" b="0" kern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방지봉</a:t>
                      </a:r>
                      <a:endParaRPr lang="ko-KR" altLang="en-US" sz="20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919472"/>
                  </a:ext>
                </a:extLst>
              </a:tr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작업내용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754585"/>
                  </a:ext>
                </a:extLst>
              </a:tr>
              <a:tr h="14650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해제 사유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738098"/>
                  </a:ext>
                </a:extLst>
              </a:tr>
              <a:tr h="7482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일시 기능 해제 기간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최대 </a:t>
                      </a: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일</a:t>
                      </a:r>
                      <a:r>
                        <a:rPr lang="en-US" altLang="ko-KR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046866"/>
                  </a:ext>
                </a:extLst>
              </a:tr>
              <a:tr h="7482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승인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요청</a:t>
                      </a:r>
                      <a:endParaRPr lang="en-US" altLang="ko-KR" sz="1400" b="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작업수행조직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서명</a:t>
                      </a:r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1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753202"/>
                  </a:ext>
                </a:extLst>
              </a:tr>
              <a:tr h="7482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  <a:cs typeface="Arial" pitchFamily="34" charset="0"/>
                        </a:rPr>
                        <a:t>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HEC</a:t>
                      </a:r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책임자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현대엔지니어링㈜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서명</a:t>
                      </a:r>
                      <a:r>
                        <a:rPr lang="en-US" altLang="ko-KR" sz="11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100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49705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15837" y="6641744"/>
            <a:ext cx="6507162" cy="1512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작업 중 구조물 간섭 등 불가피한 사유에 한하여 일시적으로 해제가 가능합니다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과상승방지장치는 일시 기능 해제 사유가 없어지거나 승인된 해제 기간이 종료된 경우 즉시</a:t>
            </a:r>
            <a:b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</a:b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원상복구 바랍니다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안전바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또는 </a:t>
            </a:r>
            <a:r>
              <a:rPr lang="ko-KR" altLang="en-US" sz="12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방지봉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 중 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1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개에 한하여 해제가 가능합니다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. (2</a:t>
            </a:r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개 안전장치 동시 해제 불가</a:t>
            </a:r>
            <a:r>
              <a:rPr lang="en-US" altLang="ko-KR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o-KR" altLang="en-US" sz="1400" kern="0" dirty="0">
              <a:ln>
                <a:solidFill>
                  <a:prstClr val="white">
                    <a:alpha val="0"/>
                  </a:prstClr>
                </a:solidFill>
              </a:ln>
              <a:latin typeface="현대하모니 L" panose="02020603020101020101" pitchFamily="18" charset="-127"/>
              <a:ea typeface="현대하모니 L" panose="02020603020101020101" pitchFamily="18" charset="-127"/>
              <a:cs typeface="Arial" pitchFamily="34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9" y="8945376"/>
            <a:ext cx="1486229" cy="28152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191208" y="8945376"/>
            <a:ext cx="3761917" cy="281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현장</a:t>
            </a:r>
          </a:p>
        </p:txBody>
      </p:sp>
    </p:spTree>
    <p:extLst>
      <p:ext uri="{BB962C8B-B14F-4D97-AF65-F5344CB8AC3E}">
        <p14:creationId xmlns:p14="http://schemas.microsoft.com/office/powerpoint/2010/main" val="1974956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188</Words>
  <TotalTime>0</TotalTime>
  <Application>Microsoft Office PowerPoint</Application>
  <Template>Office Theme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자산안전팀(김철민)</dc:creator>
  <dcterms:modified xsi:type="dcterms:W3CDTF">2025-05-27T08:17:56Z</dcterms:modified>
  <dc:title>PowerPoint 프레젠테이션</dc:title>
  <cp:lastModifiedBy>임진규(LIMJINGYU) 매니저</cp:lastModifiedBy>
  <dcterms:created xsi:type="dcterms:W3CDTF">2023-05-16T06:29:15Z</dcterms:created>
  <cp:revision>8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caf456-5176-400c-b0e6-6301b2c47597_SiteId">
    <vt:lpwstr>a27ddcc1-bea5-4183-aa29-fd96d7612a1d</vt:lpwstr>
  </property>
  <property fmtid="{D5CDD505-2E9C-101B-9397-08002B2CF9AE}" pid="3" name="MSIP_Label_cdcaf456-5176-400c-b0e6-6301b2c47597_SetDate">
    <vt:lpwstr>2024-08-21T07:55:22Z</vt:lpwstr>
  </property>
  <property fmtid="{D5CDD505-2E9C-101B-9397-08002B2CF9AE}" pid="4" name="MSIP_Label_cdcaf456-5176-400c-b0e6-6301b2c47597_Name">
    <vt:lpwstr>대외비(Restricted)</vt:lpwstr>
  </property>
  <property fmtid="{D5CDD505-2E9C-101B-9397-08002B2CF9AE}" pid="5" name="MSIP_Label_cdcaf456-5176-400c-b0e6-6301b2c47597_Method">
    <vt:lpwstr>Privileged</vt:lpwstr>
  </property>
  <property fmtid="{D5CDD505-2E9C-101B-9397-08002B2CF9AE}" pid="6" name="MSIP_Label_cdcaf456-5176-400c-b0e6-6301b2c47597_Enabled">
    <vt:lpwstr>true</vt:lpwstr>
  </property>
  <property fmtid="{D5CDD505-2E9C-101B-9397-08002B2CF9AE}" pid="7" name="MSIP_Label_cdcaf456-5176-400c-b0e6-6301b2c47597_ContentBits">
    <vt:lpwstr>8</vt:lpwstr>
  </property>
</Properties>
</file>