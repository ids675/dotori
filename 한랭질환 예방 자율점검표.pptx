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9906000" type="A4"/>
  <p:notesSz cx="6735763" cy="9866313"/>
  <p:defaultTextStyle>
    <a:defPPr>
      <a:defRPr lang="ko-KR"/>
    </a:defPPr>
    <a:lvl1pPr marL="0" algn="l" defTabSz="914248" rtl="0" eaLnBrk="1" latinLnBrk="1" hangingPunct="1">
      <a:defRPr sz="1799" kern="1200">
        <a:solidFill>
          <a:schemeClr val="tx1"/>
        </a:solidFill>
        <a:latin typeface="+mn-lt"/>
        <a:ea typeface="+mn-ea"/>
        <a:cs typeface="+mn-cs"/>
      </a:defRPr>
    </a:lvl1pPr>
    <a:lvl2pPr marL="457123" algn="l" defTabSz="914248" rtl="0" eaLnBrk="1" latinLnBrk="1" hangingPunct="1">
      <a:defRPr sz="1799" kern="1200">
        <a:solidFill>
          <a:schemeClr val="tx1"/>
        </a:solidFill>
        <a:latin typeface="+mn-lt"/>
        <a:ea typeface="+mn-ea"/>
        <a:cs typeface="+mn-cs"/>
      </a:defRPr>
    </a:lvl2pPr>
    <a:lvl3pPr marL="914248" algn="l" defTabSz="914248" rtl="0" eaLnBrk="1" latinLnBrk="1" hangingPunct="1">
      <a:defRPr sz="1799" kern="1200">
        <a:solidFill>
          <a:schemeClr val="tx1"/>
        </a:solidFill>
        <a:latin typeface="+mn-lt"/>
        <a:ea typeface="+mn-ea"/>
        <a:cs typeface="+mn-cs"/>
      </a:defRPr>
    </a:lvl3pPr>
    <a:lvl4pPr marL="1371371" algn="l" defTabSz="914248" rtl="0" eaLnBrk="1" latinLnBrk="1" hangingPunct="1">
      <a:defRPr sz="1799" kern="1200">
        <a:solidFill>
          <a:schemeClr val="tx1"/>
        </a:solidFill>
        <a:latin typeface="+mn-lt"/>
        <a:ea typeface="+mn-ea"/>
        <a:cs typeface="+mn-cs"/>
      </a:defRPr>
    </a:lvl4pPr>
    <a:lvl5pPr marL="1828495" algn="l" defTabSz="914248" rtl="0" eaLnBrk="1" latinLnBrk="1" hangingPunct="1">
      <a:defRPr sz="1799" kern="1200">
        <a:solidFill>
          <a:schemeClr val="tx1"/>
        </a:solidFill>
        <a:latin typeface="+mn-lt"/>
        <a:ea typeface="+mn-ea"/>
        <a:cs typeface="+mn-cs"/>
      </a:defRPr>
    </a:lvl5pPr>
    <a:lvl6pPr marL="2285619" algn="l" defTabSz="914248" rtl="0" eaLnBrk="1" latinLnBrk="1" hangingPunct="1">
      <a:defRPr sz="1799" kern="1200">
        <a:solidFill>
          <a:schemeClr val="tx1"/>
        </a:solidFill>
        <a:latin typeface="+mn-lt"/>
        <a:ea typeface="+mn-ea"/>
        <a:cs typeface="+mn-cs"/>
      </a:defRPr>
    </a:lvl6pPr>
    <a:lvl7pPr marL="2742743" algn="l" defTabSz="914248" rtl="0" eaLnBrk="1" latinLnBrk="1" hangingPunct="1">
      <a:defRPr sz="1799" kern="1200">
        <a:solidFill>
          <a:schemeClr val="tx1"/>
        </a:solidFill>
        <a:latin typeface="+mn-lt"/>
        <a:ea typeface="+mn-ea"/>
        <a:cs typeface="+mn-cs"/>
      </a:defRPr>
    </a:lvl7pPr>
    <a:lvl8pPr marL="3199866" algn="l" defTabSz="914248" rtl="0" eaLnBrk="1" latinLnBrk="1" hangingPunct="1">
      <a:defRPr sz="1799" kern="1200">
        <a:solidFill>
          <a:schemeClr val="tx1"/>
        </a:solidFill>
        <a:latin typeface="+mn-lt"/>
        <a:ea typeface="+mn-ea"/>
        <a:cs typeface="+mn-cs"/>
      </a:defRPr>
    </a:lvl8pPr>
    <a:lvl9pPr marL="3656991" algn="l" defTabSz="914248" rtl="0" eaLnBrk="1" latinLnBrk="1" hangingPunct="1">
      <a:defRPr sz="179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34" autoAdjust="0"/>
    <p:restoredTop sz="94660"/>
  </p:normalViewPr>
  <p:slideViewPr>
    <p:cSldViewPr snapToGrid="0">
      <p:cViewPr varScale="1">
        <p:scale>
          <a:sx n="75" d="100"/>
          <a:sy n="75" d="100"/>
        </p:scale>
        <p:origin x="253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61" indent="0" algn="ctr">
              <a:buNone/>
              <a:defRPr sz="1500"/>
            </a:lvl2pPr>
            <a:lvl3pPr marL="685721" indent="0" algn="ctr">
              <a:buNone/>
              <a:defRPr sz="1350"/>
            </a:lvl3pPr>
            <a:lvl4pPr marL="1028582" indent="0" algn="ctr">
              <a:buNone/>
              <a:defRPr sz="1200"/>
            </a:lvl4pPr>
            <a:lvl5pPr marL="1371443" indent="0" algn="ctr">
              <a:buNone/>
              <a:defRPr sz="1200"/>
            </a:lvl5pPr>
            <a:lvl6pPr marL="1714304" indent="0" algn="ctr">
              <a:buNone/>
              <a:defRPr sz="1200"/>
            </a:lvl6pPr>
            <a:lvl7pPr marL="2057165" indent="0" algn="ctr">
              <a:buNone/>
              <a:defRPr sz="1200"/>
            </a:lvl7pPr>
            <a:lvl8pPr marL="2400025" indent="0" algn="ctr">
              <a:buNone/>
              <a:defRPr sz="1200"/>
            </a:lvl8pPr>
            <a:lvl9pPr marL="2742886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114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3293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8" y="2469625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8" y="6629229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86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21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58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44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30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16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02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288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5784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05740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3" y="527406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2" y="2428350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61" indent="0">
              <a:buNone/>
              <a:defRPr sz="1500" b="1"/>
            </a:lvl2pPr>
            <a:lvl3pPr marL="685721" indent="0">
              <a:buNone/>
              <a:defRPr sz="1350" b="1"/>
            </a:lvl3pPr>
            <a:lvl4pPr marL="1028582" indent="0">
              <a:buNone/>
              <a:defRPr sz="1200" b="1"/>
            </a:lvl4pPr>
            <a:lvl5pPr marL="1371443" indent="0">
              <a:buNone/>
              <a:defRPr sz="1200" b="1"/>
            </a:lvl5pPr>
            <a:lvl6pPr marL="1714304" indent="0">
              <a:buNone/>
              <a:defRPr sz="1200" b="1"/>
            </a:lvl6pPr>
            <a:lvl7pPr marL="2057165" indent="0">
              <a:buNone/>
              <a:defRPr sz="1200" b="1"/>
            </a:lvl7pPr>
            <a:lvl8pPr marL="2400025" indent="0">
              <a:buNone/>
              <a:defRPr sz="1200" b="1"/>
            </a:lvl8pPr>
            <a:lvl9pPr marL="2742886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2" y="3618444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4" y="2428350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61" indent="0">
              <a:buNone/>
              <a:defRPr sz="1500" b="1"/>
            </a:lvl2pPr>
            <a:lvl3pPr marL="685721" indent="0">
              <a:buNone/>
              <a:defRPr sz="1350" b="1"/>
            </a:lvl3pPr>
            <a:lvl4pPr marL="1028582" indent="0">
              <a:buNone/>
              <a:defRPr sz="1200" b="1"/>
            </a:lvl4pPr>
            <a:lvl5pPr marL="1371443" indent="0">
              <a:buNone/>
              <a:defRPr sz="1200" b="1"/>
            </a:lvl5pPr>
            <a:lvl6pPr marL="1714304" indent="0">
              <a:buNone/>
              <a:defRPr sz="1200" b="1"/>
            </a:lvl6pPr>
            <a:lvl7pPr marL="2057165" indent="0">
              <a:buNone/>
              <a:defRPr sz="1200" b="1"/>
            </a:lvl7pPr>
            <a:lvl8pPr marL="2400025" indent="0">
              <a:buNone/>
              <a:defRPr sz="1200" b="1"/>
            </a:lvl8pPr>
            <a:lvl9pPr marL="2742886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4" y="3618444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506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7178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0052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5" y="1426287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3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861" indent="0">
              <a:buNone/>
              <a:defRPr sz="1050"/>
            </a:lvl2pPr>
            <a:lvl3pPr marL="685721" indent="0">
              <a:buNone/>
              <a:defRPr sz="900"/>
            </a:lvl3pPr>
            <a:lvl4pPr marL="1028582" indent="0">
              <a:buNone/>
              <a:defRPr sz="750"/>
            </a:lvl4pPr>
            <a:lvl5pPr marL="1371443" indent="0">
              <a:buNone/>
              <a:defRPr sz="750"/>
            </a:lvl5pPr>
            <a:lvl6pPr marL="1714304" indent="0">
              <a:buNone/>
              <a:defRPr sz="750"/>
            </a:lvl6pPr>
            <a:lvl7pPr marL="2057165" indent="0">
              <a:buNone/>
              <a:defRPr sz="750"/>
            </a:lvl7pPr>
            <a:lvl8pPr marL="2400025" indent="0">
              <a:buNone/>
              <a:defRPr sz="750"/>
            </a:lvl8pPr>
            <a:lvl9pPr marL="2742886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5883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5" y="1426287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861" indent="0">
              <a:buNone/>
              <a:defRPr sz="2100"/>
            </a:lvl2pPr>
            <a:lvl3pPr marL="685721" indent="0">
              <a:buNone/>
              <a:defRPr sz="1800"/>
            </a:lvl3pPr>
            <a:lvl4pPr marL="1028582" indent="0">
              <a:buNone/>
              <a:defRPr sz="1500"/>
            </a:lvl4pPr>
            <a:lvl5pPr marL="1371443" indent="0">
              <a:buNone/>
              <a:defRPr sz="1500"/>
            </a:lvl5pPr>
            <a:lvl6pPr marL="1714304" indent="0">
              <a:buNone/>
              <a:defRPr sz="1500"/>
            </a:lvl6pPr>
            <a:lvl7pPr marL="2057165" indent="0">
              <a:buNone/>
              <a:defRPr sz="1500"/>
            </a:lvl7pPr>
            <a:lvl8pPr marL="2400025" indent="0">
              <a:buNone/>
              <a:defRPr sz="1500"/>
            </a:lvl8pPr>
            <a:lvl9pPr marL="2742886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3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861" indent="0">
              <a:buNone/>
              <a:defRPr sz="1050"/>
            </a:lvl2pPr>
            <a:lvl3pPr marL="685721" indent="0">
              <a:buNone/>
              <a:defRPr sz="900"/>
            </a:lvl3pPr>
            <a:lvl4pPr marL="1028582" indent="0">
              <a:buNone/>
              <a:defRPr sz="750"/>
            </a:lvl4pPr>
            <a:lvl5pPr marL="1371443" indent="0">
              <a:buNone/>
              <a:defRPr sz="750"/>
            </a:lvl5pPr>
            <a:lvl6pPr marL="1714304" indent="0">
              <a:buNone/>
              <a:defRPr sz="750"/>
            </a:lvl6pPr>
            <a:lvl7pPr marL="2057165" indent="0">
              <a:buNone/>
              <a:defRPr sz="750"/>
            </a:lvl7pPr>
            <a:lvl8pPr marL="2400025" indent="0">
              <a:buNone/>
              <a:defRPr sz="750"/>
            </a:lvl8pPr>
            <a:lvl9pPr marL="2742886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3153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239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6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6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7349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90" y="527406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90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401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E12F21-651B-4D9A-B9B1-FCBF04478613}" type="datetimeFigureOut">
              <a:rPr lang="ko-KR" altLang="en-US" smtClean="0"/>
              <a:t>2025-11-29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5" y="9181401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401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8BB5EC-808D-4182-BDF3-E8A7D2C585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6518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721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31" indent="-171431" algn="l" defTabSz="685721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292" indent="-171431" algn="l" defTabSz="685721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52" indent="-171431" algn="l" defTabSz="685721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013" indent="-171431" algn="l" defTabSz="685721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2874" indent="-171431" algn="l" defTabSz="685721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734" indent="-171431" algn="l" defTabSz="685721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595" indent="-171431" algn="l" defTabSz="685721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456" indent="-171431" algn="l" defTabSz="685721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316" indent="-171431" algn="l" defTabSz="685721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21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61" algn="l" defTabSz="685721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21" algn="l" defTabSz="685721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582" algn="l" defTabSz="685721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43" algn="l" defTabSz="685721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04" algn="l" defTabSz="685721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165" algn="l" defTabSz="685721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025" algn="l" defTabSz="685721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886" algn="l" defTabSz="685721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7542010"/>
              </p:ext>
            </p:extLst>
          </p:nvPr>
        </p:nvGraphicFramePr>
        <p:xfrm>
          <a:off x="261380" y="1792190"/>
          <a:ext cx="6386163" cy="8046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9115">
                  <a:extLst>
                    <a:ext uri="{9D8B030D-6E8A-4147-A177-3AD203B41FA5}">
                      <a16:colId xmlns:a16="http://schemas.microsoft.com/office/drawing/2014/main" val="1662470795"/>
                    </a:ext>
                  </a:extLst>
                </a:gridCol>
                <a:gridCol w="3561679">
                  <a:extLst>
                    <a:ext uri="{9D8B030D-6E8A-4147-A177-3AD203B41FA5}">
                      <a16:colId xmlns:a16="http://schemas.microsoft.com/office/drawing/2014/main" val="2171734970"/>
                    </a:ext>
                  </a:extLst>
                </a:gridCol>
                <a:gridCol w="361422">
                  <a:extLst>
                    <a:ext uri="{9D8B030D-6E8A-4147-A177-3AD203B41FA5}">
                      <a16:colId xmlns:a16="http://schemas.microsoft.com/office/drawing/2014/main" val="2470033152"/>
                    </a:ext>
                  </a:extLst>
                </a:gridCol>
                <a:gridCol w="361422">
                  <a:extLst>
                    <a:ext uri="{9D8B030D-6E8A-4147-A177-3AD203B41FA5}">
                      <a16:colId xmlns:a16="http://schemas.microsoft.com/office/drawing/2014/main" val="3826152023"/>
                    </a:ext>
                  </a:extLst>
                </a:gridCol>
                <a:gridCol w="361422">
                  <a:extLst>
                    <a:ext uri="{9D8B030D-6E8A-4147-A177-3AD203B41FA5}">
                      <a16:colId xmlns:a16="http://schemas.microsoft.com/office/drawing/2014/main" val="3556354276"/>
                    </a:ext>
                  </a:extLst>
                </a:gridCol>
                <a:gridCol w="901103">
                  <a:extLst>
                    <a:ext uri="{9D8B030D-6E8A-4147-A177-3AD203B41FA5}">
                      <a16:colId xmlns:a16="http://schemas.microsoft.com/office/drawing/2014/main" val="3336736108"/>
                    </a:ext>
                  </a:extLst>
                </a:gridCol>
              </a:tblGrid>
              <a:tr h="273785">
                <a:tc rowSpan="2" gridSpan="2"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점검 </a:t>
                      </a:r>
                      <a:r>
                        <a:rPr kumimoji="0" 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Point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점검결과</a:t>
                      </a:r>
                      <a:endParaRPr kumimoji="0" lang="en-US" altLang="ko-KR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비 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5465576"/>
                  </a:ext>
                </a:extLst>
              </a:tr>
              <a:tr h="219027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적합</a:t>
                      </a:r>
                      <a:endParaRPr kumimoji="0" lang="en-US" altLang="ko-KR" sz="8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8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부적합</a:t>
                      </a:r>
                      <a:endParaRPr kumimoji="0" lang="en-US" altLang="ko-KR" sz="8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8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N/A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8316355"/>
                  </a:ext>
                </a:extLst>
              </a:tr>
              <a:tr h="691200">
                <a:tc rowSpan="2"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따뜻한 옷</a:t>
                      </a:r>
                      <a:endParaRPr kumimoji="0" lang="en-US" altLang="ko-KR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방한 장구</a:t>
                      </a:r>
                      <a:r>
                        <a:rPr kumimoji="0" lang="en-US" altLang="ko-KR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</a:t>
                      </a:r>
                      <a:endParaRPr kumimoji="0" lang="ko-KR" altLang="en-US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따뜻한 옷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방한모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장갑 착용</a:t>
                      </a:r>
                      <a:endParaRPr kumimoji="0" lang="ko-KR" altLang="en-US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4407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72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72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0">
                  <a:txBody>
                    <a:bodyPr/>
                    <a:lstStyle/>
                    <a:p>
                      <a:pPr algn="l" fontAlgn="ctr"/>
                      <a:endParaRPr kumimoji="0" lang="en-US" altLang="ko-KR" sz="9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72000" marB="0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0817563"/>
                  </a:ext>
                </a:extLst>
              </a:tr>
              <a:tr h="6912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보온 장갑 및 보온</a:t>
                      </a:r>
                      <a:r>
                        <a:rPr kumimoji="0" lang="en-US" altLang="ko-KR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·</a:t>
                      </a:r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방수기능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신발 착용</a:t>
                      </a:r>
                      <a:endParaRPr kumimoji="0" lang="en-US" altLang="ko-KR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algn="l" font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- </a:t>
                      </a:r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물에 젖기 쉬운 작업을 하는 경우 방수 기능이 있는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장갑 착용</a:t>
                      </a:r>
                      <a:endParaRPr kumimoji="0" lang="en-US" altLang="ko-KR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4407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kumimoji="0" lang="ko-KR" altLang="en-US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7018762"/>
                  </a:ext>
                </a:extLst>
              </a:tr>
              <a:tr h="691952">
                <a:tc rowSpan="3"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따뜻한 장소</a:t>
                      </a:r>
                      <a:endParaRPr kumimoji="0" lang="en-US" altLang="ko-KR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-21082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추위를 피해 쉴수 있는 따뜻한 쉼터를 작업장소 가까운 곳에 설치</a:t>
                      </a:r>
                    </a:p>
                    <a:p>
                      <a:pPr marL="0" marR="0" indent="-21082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-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난방장치를 설치하고 화재 및 유해가스 중독 등의 예방조치 실시</a:t>
                      </a:r>
                    </a:p>
                  </a:txBody>
                  <a:tcPr marL="64770" marR="6477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72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kumimoji="0" lang="en-US" altLang="ko-KR" sz="9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72000" marB="0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6479410"/>
                  </a:ext>
                </a:extLst>
              </a:tr>
              <a:tr h="691200">
                <a:tc vMerge="1">
                  <a:txBody>
                    <a:bodyPr/>
                    <a:lstStyle/>
                    <a:p>
                      <a:pPr algn="ctr" fontAlgn="ctr"/>
                      <a:endParaRPr kumimoji="0" lang="en-US" altLang="ko-KR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-21082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한파특보 발령 시 적절하게 휴식 부여</a:t>
                      </a:r>
                    </a:p>
                  </a:txBody>
                  <a:tcPr marL="64770" marR="6477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72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971226"/>
                  </a:ext>
                </a:extLst>
              </a:tr>
              <a:tr h="691952">
                <a:tc vMerge="1">
                  <a:txBody>
                    <a:bodyPr/>
                    <a:lstStyle/>
                    <a:p>
                      <a:pPr algn="ctr" fontAlgn="ctr"/>
                      <a:endParaRPr kumimoji="0" lang="en-US" altLang="ko-KR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-21844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휴식시간에 이용할 수 있는 휴게시설 설치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설치 관리 기준 준수</a:t>
                      </a:r>
                    </a:p>
                    <a:p>
                      <a:pPr marL="0" marR="0" indent="-21082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설치･관리 기준 준수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크기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온도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위치 등 적정기준 준수 여부 확인</a:t>
                      </a:r>
                    </a:p>
                  </a:txBody>
                  <a:tcPr marL="64770" marR="6477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72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984209"/>
                  </a:ext>
                </a:extLst>
              </a:tr>
              <a:tr h="691200">
                <a:tc>
                  <a:txBody>
                    <a:bodyPr/>
                    <a:lstStyle/>
                    <a:p>
                      <a:pPr marL="0" marR="0" lvl="0" indent="0" algn="ctr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따뜻한 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따뜻하고 깨끗한 물 제공</a:t>
                      </a:r>
                    </a:p>
                    <a:p>
                      <a:pPr algn="l" font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-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온수기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‧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보온병 등을 활용 수시로 따뜻한 물을 마실 수 있도록 조치</a:t>
                      </a:r>
                    </a:p>
                  </a:txBody>
                  <a:tcPr marL="4407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kumimoji="0" lang="en-US" altLang="ko-KR" sz="9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72000" marB="0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9980914"/>
                  </a:ext>
                </a:extLst>
              </a:tr>
              <a:tr h="690184">
                <a:tc rowSpan="2"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작업시간대</a:t>
                      </a:r>
                      <a:endParaRPr kumimoji="0" lang="en-US" altLang="ko-KR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조정</a:t>
                      </a:r>
                      <a:endParaRPr kumimoji="0" lang="ko-KR" altLang="en-US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-21209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한파특보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주의보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발령 시 작업시간 조정 및 작업시간 단축</a:t>
                      </a:r>
                    </a:p>
                  </a:txBody>
                  <a:tcPr marL="64770" marR="6477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72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 fontAlgn="ctr"/>
                      <a:endParaRPr kumimoji="0" lang="en-US" altLang="ko-KR" sz="9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72000" marB="0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629681"/>
                  </a:ext>
                </a:extLst>
              </a:tr>
              <a:tr h="1332000">
                <a:tc vMerge="1">
                  <a:txBody>
                    <a:bodyPr/>
                    <a:lstStyle/>
                    <a:p>
                      <a:pPr marL="0" algn="ctr" defTabSz="685721" rtl="0" eaLnBrk="1" fontAlgn="ctr" latinLnBrk="1" hangingPunct="1"/>
                      <a:endParaRPr kumimoji="0" lang="ko-KR" altLang="en-US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-21209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한파특보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경보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발령 시 추운시간대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새벽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옥외 작업중지 및 최소화</a:t>
                      </a:r>
                      <a:endParaRPr kumimoji="0" lang="en-US" altLang="ko-KR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marL="0" marR="0" indent="-21209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-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한랭질환 민감군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중작업 근로자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건설노동자 및 환경미화 노동자</a:t>
                      </a:r>
                      <a:b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</a:b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옥외작업 금지</a:t>
                      </a:r>
                      <a:endParaRPr kumimoji="0" lang="en-US" altLang="ko-KR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marL="0" marR="0" indent="-21082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* 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민감군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고혈압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당뇨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뇌심혈관질환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고령자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신규배치자 등 </a:t>
                      </a:r>
                    </a:p>
                    <a:p>
                      <a:pPr marL="0" marR="0" indent="-78994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* 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중작업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형틀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·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철근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·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타설작업 등 건설현장에서 전신을 움직이는 작업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중량물을 수작업에 의해 반복적올 취급하는 작업</a:t>
                      </a:r>
                    </a:p>
                  </a:txBody>
                  <a:tcPr marL="6477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72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kumimoji="0" lang="ko-KR" altLang="en-US" sz="9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72000" marB="0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568434"/>
                  </a:ext>
                </a:extLst>
              </a:tr>
              <a:tr h="691200">
                <a:tc>
                  <a:txBody>
                    <a:bodyPr/>
                    <a:lstStyle/>
                    <a:p>
                      <a:pPr marL="0" algn="ctr" defTabSz="685721" rtl="0" eaLnBrk="1" fontAlgn="ctr" latinLnBrk="1" hangingPunct="1"/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응급조치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10820" marR="0" indent="-21082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한파작업 노동자의 한랭질환자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의심자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발생 시 즉시 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119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신고</a:t>
                      </a:r>
                    </a:p>
                    <a:p>
                      <a:pPr marL="210820" marR="0" indent="-210820" algn="just" fontAlgn="base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-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건강장해의 증상 및 예방조치</a:t>
                      </a:r>
                      <a:r>
                        <a:rPr kumimoji="0" lang="en-US" altLang="ko-KR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, </a:t>
                      </a: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응급조치 요령을 미리 알릴 것 </a:t>
                      </a:r>
                    </a:p>
                  </a:txBody>
                  <a:tcPr marL="64770" marR="6477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72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4221069"/>
                  </a:ext>
                </a:extLst>
              </a:tr>
              <a:tr h="691200">
                <a:tc>
                  <a:txBody>
                    <a:bodyPr/>
                    <a:lstStyle/>
                    <a:p>
                      <a:pPr marL="0" algn="ctr" defTabSz="685721" rtl="0" eaLnBrk="1" fontAlgn="ctr" latinLnBrk="1" hangingPunct="1"/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한랭질환</a:t>
                      </a:r>
                      <a:endParaRPr kumimoji="0" lang="en-US" altLang="ko-KR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  <a:p>
                      <a:pPr marL="0" algn="ctr" defTabSz="685721" rtl="0" eaLnBrk="1" fontAlgn="ctr" latinLnBrk="1" hangingPunct="1"/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민감군 관리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-212090" algn="l" defTabSz="685721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kumimoji="0" lang="ko-KR" altLang="en-US" sz="1000" b="0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○ 한파특보 시 한랭질환 민감군 및 중작업 수행 노동자 중점 관리</a:t>
                      </a:r>
                    </a:p>
                  </a:txBody>
                  <a:tcPr marL="64770" marR="6477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72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kumimoji="0" lang="ko-KR" altLang="en-US" sz="12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kumimoji="0" lang="ko-KR" altLang="en-US" sz="1000" b="0" i="0" u="none" strike="noStrike" kern="1200" cap="none" spc="0" normalizeH="0" baseline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106006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888637"/>
              </p:ext>
            </p:extLst>
          </p:nvPr>
        </p:nvGraphicFramePr>
        <p:xfrm>
          <a:off x="261380" y="1072452"/>
          <a:ext cx="6386164" cy="619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9106">
                  <a:extLst>
                    <a:ext uri="{9D8B030D-6E8A-4147-A177-3AD203B41FA5}">
                      <a16:colId xmlns:a16="http://schemas.microsoft.com/office/drawing/2014/main" val="1662470795"/>
                    </a:ext>
                  </a:extLst>
                </a:gridCol>
                <a:gridCol w="2385138">
                  <a:extLst>
                    <a:ext uri="{9D8B030D-6E8A-4147-A177-3AD203B41FA5}">
                      <a16:colId xmlns:a16="http://schemas.microsoft.com/office/drawing/2014/main" val="930322830"/>
                    </a:ext>
                  </a:extLst>
                </a:gridCol>
                <a:gridCol w="967658">
                  <a:extLst>
                    <a:ext uri="{9D8B030D-6E8A-4147-A177-3AD203B41FA5}">
                      <a16:colId xmlns:a16="http://schemas.microsoft.com/office/drawing/2014/main" val="3336736108"/>
                    </a:ext>
                  </a:extLst>
                </a:gridCol>
                <a:gridCol w="1039752">
                  <a:extLst>
                    <a:ext uri="{9D8B030D-6E8A-4147-A177-3AD203B41FA5}">
                      <a16:colId xmlns:a16="http://schemas.microsoft.com/office/drawing/2014/main" val="2441048695"/>
                    </a:ext>
                  </a:extLst>
                </a:gridCol>
                <a:gridCol w="1024510">
                  <a:extLst>
                    <a:ext uri="{9D8B030D-6E8A-4147-A177-3AD203B41FA5}">
                      <a16:colId xmlns:a16="http://schemas.microsoft.com/office/drawing/2014/main" val="1015617602"/>
                    </a:ext>
                  </a:extLst>
                </a:gridCol>
              </a:tblGrid>
              <a:tr h="309594"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현장명</a:t>
                      </a:r>
                      <a:endParaRPr kumimoji="0" lang="en-US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200" b="1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시설관리</a:t>
                      </a:r>
                      <a:r>
                        <a:rPr kumimoji="0" lang="en-US" altLang="ko-KR" sz="1200" b="1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(</a:t>
                      </a:r>
                      <a:r>
                        <a:rPr kumimoji="0" lang="ko-KR" altLang="en-US" sz="1200" b="1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현대차 </a:t>
                      </a:r>
                      <a:r>
                        <a:rPr kumimoji="0" lang="en-US" altLang="ko-KR" sz="1200" b="1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00000000)</a:t>
                      </a:r>
                      <a:endParaRPr kumimoji="0" lang="ko-KR" altLang="en-US" sz="1200" b="1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협력업체명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935465576"/>
                  </a:ext>
                </a:extLst>
              </a:tr>
              <a:tr h="309594"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점검일</a:t>
                      </a:r>
                      <a:endParaRPr kumimoji="0" lang="en-US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kumimoji="0" lang="en-US" altLang="ko-KR" sz="1200" b="1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2000. </a:t>
                      </a:r>
                      <a:r>
                        <a:rPr kumimoji="0" lang="en-US" altLang="ko-KR" sz="1200" b="1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00. 00.(0)</a:t>
                      </a:r>
                      <a:endParaRPr kumimoji="0" lang="ko-KR" altLang="en-US" sz="1200" b="1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1000" b="0" i="0" u="none" strike="noStrike" kern="1200" cap="none" spc="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점검자</a:t>
                      </a:r>
                      <a:endParaRPr kumimoji="0" lang="ko-KR" altLang="en-US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r" defTabSz="685800" rtl="0" eaLnBrk="1" fontAlgn="ctr" latinLnBrk="1" hangingPunct="1"/>
                      <a:r>
                        <a:rPr kumimoji="0" lang="en-US" altLang="ko-KR" sz="1200" b="1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000</a:t>
                      </a:r>
                      <a:endParaRPr kumimoji="0" lang="ko-KR" altLang="en-US" sz="1200" b="1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en-US" altLang="ko-KR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          (</a:t>
                      </a:r>
                      <a:r>
                        <a:rPr kumimoji="0" lang="ko-KR" altLang="en-US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서명</a:t>
                      </a:r>
                      <a:r>
                        <a:rPr kumimoji="0" lang="en-US" altLang="ko-KR" sz="1000" b="0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)</a:t>
                      </a:r>
                      <a:endParaRPr kumimoji="0" lang="ko-KR" altLang="en-US" sz="1000" b="0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bg1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0830367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374794"/>
              </p:ext>
            </p:extLst>
          </p:nvPr>
        </p:nvGraphicFramePr>
        <p:xfrm>
          <a:off x="261380" y="352714"/>
          <a:ext cx="6386163" cy="619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86163">
                  <a:extLst>
                    <a:ext uri="{9D8B030D-6E8A-4147-A177-3AD203B41FA5}">
                      <a16:colId xmlns:a16="http://schemas.microsoft.com/office/drawing/2014/main" val="1662470795"/>
                    </a:ext>
                  </a:extLst>
                </a:gridCol>
              </a:tblGrid>
              <a:tr h="619188">
                <a:tc>
                  <a:txBody>
                    <a:bodyPr/>
                    <a:lstStyle/>
                    <a:p>
                      <a:pPr algn="ctr" fontAlgn="ctr"/>
                      <a:r>
                        <a:rPr kumimoji="0" lang="ko-KR" altLang="en-US" sz="2000" b="1" i="0" u="none" strike="noStrike" kern="12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한랭질환 </a:t>
                      </a:r>
                      <a:r>
                        <a:rPr kumimoji="0" lang="ko-KR" altLang="en-US" sz="2000" b="1" i="0" u="none" strike="noStrike" kern="1200" cap="none" spc="0" normalizeH="0" baseline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  <a:cs typeface="+mn-cs"/>
                        </a:rPr>
                        <a:t>예방 자율점검표</a:t>
                      </a:r>
                      <a:endParaRPr kumimoji="0" lang="ko-KR" altLang="en-US" sz="2000" b="1" i="0" u="none" strike="noStrike" kern="12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현대하모니 L" panose="02020603020101020101" pitchFamily="18" charset="-127"/>
                        <a:ea typeface="현대하모니 L" panose="02020603020101020101" pitchFamily="18" charset="-127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5465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7623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11ee6e5-21a0-48c4-8af4-6cc1347f763e}" enabled="1" method="Privileged" siteId="{a27ddcc1-bea5-4183-aa29-fd96d7612a1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194074569</TotalTime>
  <Words>268</Words>
  <Application>Microsoft Office PowerPoint</Application>
  <PresentationFormat>A4 용지(210x297mm)</PresentationFormat>
  <Paragraphs>43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현대하모니 L</vt:lpstr>
      <vt:lpstr>Arial</vt:lpstr>
      <vt:lpstr>Calibri</vt:lpstr>
      <vt:lpstr>Calibri Light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김철민</dc:creator>
  <cp:lastModifiedBy>임진규(LIMJINGYU) 매니저</cp:lastModifiedBy>
  <cp:revision>69</cp:revision>
  <cp:lastPrinted>2024-01-26T01:59:12Z</cp:lastPrinted>
  <dcterms:created xsi:type="dcterms:W3CDTF">2022-08-04T05:23:44Z</dcterms:created>
  <dcterms:modified xsi:type="dcterms:W3CDTF">2025-11-28T16:08:05Z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dcaf456-5176-400c-b0e6-6301b2c47597_SiteId">
    <vt:lpwstr>a27ddcc1-bea5-4183-aa29-fd96d7612a1d</vt:lpwstr>
  </property>
  <property fmtid="{D5CDD505-2E9C-101B-9397-08002B2CF9AE}" pid="3" name="MSIP_Label_cdcaf456-5176-400c-b0e6-6301b2c47597_SetDate">
    <vt:lpwstr>2025-11-21T04:51:02Z</vt:lpwstr>
  </property>
  <property fmtid="{D5CDD505-2E9C-101B-9397-08002B2CF9AE}" pid="4" name="MSIP_Label_cdcaf456-5176-400c-b0e6-6301b2c47597_Name">
    <vt:lpwstr>대외비(Restricted)</vt:lpwstr>
  </property>
  <property fmtid="{D5CDD505-2E9C-101B-9397-08002B2CF9AE}" pid="5" name="MSIP_Label_cdcaf456-5176-400c-b0e6-6301b2c47597_Method">
    <vt:lpwstr>Privileged</vt:lpwstr>
  </property>
  <property fmtid="{D5CDD505-2E9C-101B-9397-08002B2CF9AE}" pid="6" name="MSIP_Label_cdcaf456-5176-400c-b0e6-6301b2c47597_Enabled">
    <vt:lpwstr>true</vt:lpwstr>
  </property>
  <property fmtid="{D5CDD505-2E9C-101B-9397-08002B2CF9AE}" pid="7" name="MSIP_Label_cdcaf456-5176-400c-b0e6-6301b2c47597_ContentBits">
    <vt:lpwstr>8</vt:lpwstr>
  </property>
</Properties>
</file>