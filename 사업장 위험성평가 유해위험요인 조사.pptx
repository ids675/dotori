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3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31A6-FBF6-4D46-A444-A783B4C610B0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96302-4AEA-445A-9E8E-EC0FA45BC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09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31A6-FBF6-4D46-A444-A783B4C610B0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96302-4AEA-445A-9E8E-EC0FA45BC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15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31A6-FBF6-4D46-A444-A783B4C610B0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96302-4AEA-445A-9E8E-EC0FA45BC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733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31A6-FBF6-4D46-A444-A783B4C610B0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96302-4AEA-445A-9E8E-EC0FA45BC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79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31A6-FBF6-4D46-A444-A783B4C610B0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96302-4AEA-445A-9E8E-EC0FA45BC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64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31A6-FBF6-4D46-A444-A783B4C610B0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96302-4AEA-445A-9E8E-EC0FA45BC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50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31A6-FBF6-4D46-A444-A783B4C610B0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96302-4AEA-445A-9E8E-EC0FA45BC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34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31A6-FBF6-4D46-A444-A783B4C610B0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96302-4AEA-445A-9E8E-EC0FA45BC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646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31A6-FBF6-4D46-A444-A783B4C610B0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96302-4AEA-445A-9E8E-EC0FA45BC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15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31A6-FBF6-4D46-A444-A783B4C610B0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96302-4AEA-445A-9E8E-EC0FA45BC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225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31A6-FBF6-4D46-A444-A783B4C610B0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96302-4AEA-445A-9E8E-EC0FA45BC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872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109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C31A6-FBF6-4D46-A444-A783B4C610B0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96302-4AEA-445A-9E8E-EC0FA45BC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2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393726"/>
            <a:ext cx="9906000" cy="64642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Arial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80014" y="544767"/>
            <a:ext cx="9564291" cy="478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사업장 </a:t>
            </a:r>
            <a:r>
              <a:rPr lang="ko-KR" altLang="en-US" b="1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순회점검을</a:t>
            </a:r>
            <a:r>
              <a:rPr lang="ko-KR" altLang="en-US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 통한 유해</a:t>
            </a:r>
            <a:r>
              <a:rPr lang="en-US" altLang="ko-KR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·</a:t>
            </a:r>
            <a:r>
              <a:rPr lang="ko-KR" altLang="en-US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위험요인 발굴 조사서</a:t>
            </a:r>
            <a:endParaRPr lang="en-US" altLang="ko-KR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Arial" pitchFamily="34" charset="0"/>
            </a:endParaRPr>
          </a:p>
          <a:p>
            <a:pPr algn="ctr"/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(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실시방법 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: 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사업장을 순회점검하고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,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확인된 유해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위험요인을 조사하여 작성함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)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 pitchFamily="34" charset="0"/>
            </a:endParaRP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110426" y="6597415"/>
            <a:ext cx="2729212" cy="2659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49846" tIns="0" rIns="49846" bIns="0" anchor="ctr"/>
          <a:lstStyle/>
          <a:p>
            <a:pPr algn="l" defTabSz="623122" eaLnBrk="0" latinLnBrk="0" hangingPunct="0">
              <a:tabLst>
                <a:tab pos="309912" algn="l"/>
              </a:tabLst>
              <a:defRPr/>
            </a:pPr>
            <a:r>
              <a:rPr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현대엔지니어링 자산관리사업본부</a:t>
            </a:r>
            <a:endParaRPr lang="en-US" altLang="ko-KR" sz="9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97510" y="112478"/>
            <a:ext cx="6180042" cy="36997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4769" bIns="24923" rtlCol="0" anchor="t" anchorCtr="0"/>
          <a:lstStyle/>
          <a:p>
            <a:pPr defTabSz="623122" eaLnBrk="0" latinLnBrk="0" hangingPunct="0">
              <a:tabLst>
                <a:tab pos="309912" algn="l"/>
              </a:tabLst>
              <a:defRPr/>
            </a:pPr>
            <a:r>
              <a:rPr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사업장 </a:t>
            </a:r>
            <a:r>
              <a:rPr lang="ko-KR" altLang="en-US" sz="9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위험성평가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유해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·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위험요인 조사 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(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사업장순회점검을 통한 유해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·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위험요인 발굴 조사서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)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180014" y="72927"/>
            <a:ext cx="45719" cy="288032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B05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5" name="직선 연결선 34"/>
          <p:cNvCxnSpPr/>
          <p:nvPr/>
        </p:nvCxnSpPr>
        <p:spPr>
          <a:xfrm>
            <a:off x="0" y="393726"/>
            <a:ext cx="9906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180014" y="1102904"/>
          <a:ext cx="9564291" cy="54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400">
                  <a:extLst>
                    <a:ext uri="{9D8B030D-6E8A-4147-A177-3AD203B41FA5}">
                      <a16:colId xmlns:a16="http://schemas.microsoft.com/office/drawing/2014/main" val="3977391178"/>
                    </a:ext>
                  </a:extLst>
                </a:gridCol>
                <a:gridCol w="8953891">
                  <a:extLst>
                    <a:ext uri="{9D8B030D-6E8A-4147-A177-3AD203B41FA5}">
                      <a16:colId xmlns:a16="http://schemas.microsoft.com/office/drawing/2014/main" val="7434947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점검</a:t>
                      </a:r>
                      <a:endParaRPr lang="en-US" altLang="ko-KR" sz="10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  <a:p>
                      <a:pPr algn="ctr" latinLnBrk="1"/>
                      <a:r>
                        <a:rPr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개요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086829"/>
                  </a:ext>
                </a:extLst>
              </a:tr>
              <a:tr h="475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점검</a:t>
                      </a:r>
                      <a:endParaRPr lang="en-US" altLang="ko-KR" sz="10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  <a:p>
                      <a:pPr algn="ctr"/>
                      <a:r>
                        <a:rPr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결과</a:t>
                      </a:r>
                      <a:endParaRPr lang="en-US" altLang="ko-KR" sz="10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1" u="sng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741974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/>
        </p:nvGraphicFramePr>
        <p:xfrm>
          <a:off x="845186" y="1154604"/>
          <a:ext cx="8841255" cy="619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542">
                  <a:extLst>
                    <a:ext uri="{9D8B030D-6E8A-4147-A177-3AD203B41FA5}">
                      <a16:colId xmlns:a16="http://schemas.microsoft.com/office/drawing/2014/main" val="4294033993"/>
                    </a:ext>
                  </a:extLst>
                </a:gridCol>
                <a:gridCol w="2947085">
                  <a:extLst>
                    <a:ext uri="{9D8B030D-6E8A-4147-A177-3AD203B41FA5}">
                      <a16:colId xmlns:a16="http://schemas.microsoft.com/office/drawing/2014/main" val="2446707126"/>
                    </a:ext>
                  </a:extLst>
                </a:gridCol>
                <a:gridCol w="1289970">
                  <a:extLst>
                    <a:ext uri="{9D8B030D-6E8A-4147-A177-3AD203B41FA5}">
                      <a16:colId xmlns:a16="http://schemas.microsoft.com/office/drawing/2014/main" val="4248259330"/>
                    </a:ext>
                  </a:extLst>
                </a:gridCol>
                <a:gridCol w="3130658">
                  <a:extLst>
                    <a:ext uri="{9D8B030D-6E8A-4147-A177-3AD203B41FA5}">
                      <a16:colId xmlns:a16="http://schemas.microsoft.com/office/drawing/2014/main" val="1743573702"/>
                    </a:ext>
                  </a:extLst>
                </a:gridCol>
              </a:tblGrid>
              <a:tr h="3097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점검자</a:t>
                      </a:r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소속</a:t>
                      </a:r>
                      <a:r>
                        <a:rPr lang="en-US" altLang="ko-KR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성명</a:t>
                      </a: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점검</a:t>
                      </a:r>
                      <a:r>
                        <a:rPr lang="en-US" altLang="ko-KR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일시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346690"/>
                  </a:ext>
                </a:extLst>
              </a:tr>
              <a:tr h="3097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점검 대상 업무</a:t>
                      </a: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093700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/>
        </p:nvGraphicFramePr>
        <p:xfrm>
          <a:off x="845186" y="1866375"/>
          <a:ext cx="8841256" cy="4662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52">
                  <a:extLst>
                    <a:ext uri="{9D8B030D-6E8A-4147-A177-3AD203B41FA5}">
                      <a16:colId xmlns:a16="http://schemas.microsoft.com/office/drawing/2014/main" val="4294033993"/>
                    </a:ext>
                  </a:extLst>
                </a:gridCol>
                <a:gridCol w="1163510">
                  <a:extLst>
                    <a:ext uri="{9D8B030D-6E8A-4147-A177-3AD203B41FA5}">
                      <a16:colId xmlns:a16="http://schemas.microsoft.com/office/drawing/2014/main" val="695811601"/>
                    </a:ext>
                  </a:extLst>
                </a:gridCol>
                <a:gridCol w="4903076">
                  <a:extLst>
                    <a:ext uri="{9D8B030D-6E8A-4147-A177-3AD203B41FA5}">
                      <a16:colId xmlns:a16="http://schemas.microsoft.com/office/drawing/2014/main" val="2446707126"/>
                    </a:ext>
                  </a:extLst>
                </a:gridCol>
                <a:gridCol w="890752">
                  <a:extLst>
                    <a:ext uri="{9D8B030D-6E8A-4147-A177-3AD203B41FA5}">
                      <a16:colId xmlns:a16="http://schemas.microsoft.com/office/drawing/2014/main" val="3368951613"/>
                    </a:ext>
                  </a:extLst>
                </a:gridCol>
                <a:gridCol w="1582966">
                  <a:extLst>
                    <a:ext uri="{9D8B030D-6E8A-4147-A177-3AD203B41FA5}">
                      <a16:colId xmlns:a16="http://schemas.microsoft.com/office/drawing/2014/main" val="1743573702"/>
                    </a:ext>
                  </a:extLst>
                </a:gridCol>
              </a:tblGrid>
              <a:tr h="401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No.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장소</a:t>
                      </a: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유해</a:t>
                      </a:r>
                      <a:r>
                        <a:rPr lang="en-US" altLang="ko-KR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·</a:t>
                      </a:r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위험 작업</a:t>
                      </a: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예상되는</a:t>
                      </a: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  <a:p>
                      <a:pPr algn="ctr" latinLnBrk="1"/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사고</a:t>
                      </a:r>
                      <a:r>
                        <a:rPr lang="en-US" altLang="ko-KR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질병 유형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비고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46690"/>
                  </a:ext>
                </a:extLst>
              </a:tr>
              <a:tr h="852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861855"/>
                  </a:ext>
                </a:extLst>
              </a:tr>
              <a:tr h="852304"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549755"/>
                  </a:ext>
                </a:extLst>
              </a:tr>
              <a:tr h="852304"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291893"/>
                  </a:ext>
                </a:extLst>
              </a:tr>
              <a:tr h="852304"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155203"/>
                  </a:ext>
                </a:extLst>
              </a:tr>
              <a:tr h="852304"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22469"/>
                  </a:ext>
                </a:extLst>
              </a:tr>
            </a:tbl>
          </a:graphicData>
        </a:graphic>
      </p:graphicFrame>
      <p:pic>
        <p:nvPicPr>
          <p:cNvPr id="4" name="그림 3" descr="폰트, 그래픽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3409C9F-9E7C-7084-478B-5668CD0B85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122" y="6621429"/>
            <a:ext cx="1019452" cy="21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915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393726"/>
            <a:ext cx="9906000" cy="64642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Arial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80014" y="544767"/>
            <a:ext cx="9564291" cy="478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직원 안전보건 청취</a:t>
            </a:r>
            <a:r>
              <a:rPr lang="en-US" altLang="ko-KR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(</a:t>
            </a:r>
            <a:r>
              <a:rPr lang="ko-KR" altLang="en-US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면담</a:t>
            </a:r>
            <a:r>
              <a:rPr lang="en-US" altLang="ko-KR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)</a:t>
            </a:r>
            <a:r>
              <a:rPr lang="ko-KR" altLang="en-US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 조사서</a:t>
            </a:r>
            <a:endParaRPr lang="en-US" altLang="ko-KR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Arial" pitchFamily="34" charset="0"/>
            </a:endParaRPr>
          </a:p>
          <a:p>
            <a:pPr algn="ctr"/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(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실시방법 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: </a:t>
            </a:r>
            <a:r>
              <a:rPr lang="ko-KR" altLang="en-US" sz="10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위험성평가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수행자가 현장 근로자와 면담을 통해 직접 경험한 유해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위험요인을 확인하여 작성함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)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 pitchFamily="34" charset="0"/>
            </a:endParaRP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110426" y="6597415"/>
            <a:ext cx="2729212" cy="2659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49846" tIns="0" rIns="49846" bIns="0" anchor="ctr"/>
          <a:lstStyle/>
          <a:p>
            <a:pPr algn="l" defTabSz="623122" eaLnBrk="0" latinLnBrk="0" hangingPunct="0">
              <a:tabLst>
                <a:tab pos="309912" algn="l"/>
              </a:tabLst>
              <a:defRPr/>
            </a:pPr>
            <a:r>
              <a:rPr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현대엔지니어링 자산관리사업본부</a:t>
            </a:r>
            <a:endParaRPr lang="en-US" altLang="ko-KR" sz="9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97510" y="112478"/>
            <a:ext cx="6180042" cy="36997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4769" bIns="24923" rtlCol="0" anchor="t" anchorCtr="0"/>
          <a:lstStyle/>
          <a:p>
            <a:pPr defTabSz="623122" eaLnBrk="0" latinLnBrk="0" hangingPunct="0">
              <a:tabLst>
                <a:tab pos="309912" algn="l"/>
              </a:tabLst>
              <a:defRPr/>
            </a:pPr>
            <a:r>
              <a:rPr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사업장 </a:t>
            </a:r>
            <a:r>
              <a:rPr lang="ko-KR" altLang="en-US" sz="9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위험성평가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유해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·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위험요인 조사 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(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직원 안전보건 청취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(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면담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) 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조사서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)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180014" y="72927"/>
            <a:ext cx="45719" cy="288032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B05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5" name="직선 연결선 34"/>
          <p:cNvCxnSpPr/>
          <p:nvPr/>
        </p:nvCxnSpPr>
        <p:spPr>
          <a:xfrm>
            <a:off x="0" y="393726"/>
            <a:ext cx="9906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180014" y="1102904"/>
          <a:ext cx="9564291" cy="54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400">
                  <a:extLst>
                    <a:ext uri="{9D8B030D-6E8A-4147-A177-3AD203B41FA5}">
                      <a16:colId xmlns:a16="http://schemas.microsoft.com/office/drawing/2014/main" val="3977391178"/>
                    </a:ext>
                  </a:extLst>
                </a:gridCol>
                <a:gridCol w="8953891">
                  <a:extLst>
                    <a:ext uri="{9D8B030D-6E8A-4147-A177-3AD203B41FA5}">
                      <a16:colId xmlns:a16="http://schemas.microsoft.com/office/drawing/2014/main" val="7434947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면담</a:t>
                      </a:r>
                      <a:endParaRPr lang="en-US" altLang="ko-KR" sz="10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  <a:p>
                      <a:pPr algn="ctr" latinLnBrk="1"/>
                      <a:r>
                        <a:rPr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개요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086829"/>
                  </a:ext>
                </a:extLst>
              </a:tr>
              <a:tr h="475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청취</a:t>
                      </a:r>
                      <a:endParaRPr lang="en-US" altLang="ko-KR" sz="10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  <a:p>
                      <a:pPr algn="ctr"/>
                      <a:r>
                        <a:rPr lang="en-US" altLang="ko-KR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면담</a:t>
                      </a:r>
                      <a:r>
                        <a:rPr lang="en-US" altLang="ko-KR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algn="ctr"/>
                      <a:r>
                        <a:rPr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내용</a:t>
                      </a:r>
                      <a:endParaRPr lang="en-US" altLang="ko-KR" sz="10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741974"/>
                  </a:ext>
                </a:extLst>
              </a:tr>
            </a:tbl>
          </a:graphicData>
        </a:graphic>
      </p:graphicFrame>
      <p:sp>
        <p:nvSpPr>
          <p:cNvPr id="18" name="직사각형 17"/>
          <p:cNvSpPr/>
          <p:nvPr/>
        </p:nvSpPr>
        <p:spPr>
          <a:xfrm>
            <a:off x="812520" y="1844147"/>
            <a:ext cx="5565032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□ 최근 유해</a:t>
            </a:r>
            <a:r>
              <a:rPr lang="en-US" altLang="ko-KR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·</a:t>
            </a:r>
            <a:r>
              <a:rPr lang="ko-KR" altLang="en-US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 경험 사례 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※ 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면담대상자가 미리 작성하거나 면담 시 면담자가 청취 후 작성</a:t>
            </a:r>
            <a:endParaRPr lang="en-US" altLang="ko-KR" sz="9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835768" y="2150736"/>
            <a:ext cx="4305685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[</a:t>
            </a:r>
            <a:r>
              <a:rPr lang="ko-KR" altLang="en-US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사례 </a:t>
            </a:r>
            <a:r>
              <a:rPr lang="en-US" altLang="ko-KR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1] 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당시 상황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,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본인 의견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(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원인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/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개선점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) 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등</a:t>
            </a:r>
            <a:endParaRPr lang="en-US" altLang="ko-KR" sz="9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35768" y="3488962"/>
            <a:ext cx="4305685" cy="306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[</a:t>
            </a:r>
            <a:r>
              <a:rPr lang="ko-KR" altLang="en-US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사례 </a:t>
            </a:r>
            <a:r>
              <a:rPr lang="en-US" altLang="ko-KR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2]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835768" y="4787690"/>
            <a:ext cx="4305685" cy="306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[</a:t>
            </a:r>
            <a:r>
              <a:rPr lang="ko-KR" altLang="en-US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사례 </a:t>
            </a:r>
            <a:r>
              <a:rPr lang="en-US" altLang="ko-KR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3]</a:t>
            </a:r>
          </a:p>
        </p:txBody>
      </p:sp>
      <p:graphicFrame>
        <p:nvGraphicFramePr>
          <p:cNvPr id="32" name="표 31"/>
          <p:cNvGraphicFramePr>
            <a:graphicFrameLocks noGrp="1"/>
          </p:cNvGraphicFramePr>
          <p:nvPr/>
        </p:nvGraphicFramePr>
        <p:xfrm>
          <a:off x="845186" y="1154604"/>
          <a:ext cx="8841255" cy="619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449">
                  <a:extLst>
                    <a:ext uri="{9D8B030D-6E8A-4147-A177-3AD203B41FA5}">
                      <a16:colId xmlns:a16="http://schemas.microsoft.com/office/drawing/2014/main" val="4294033993"/>
                    </a:ext>
                  </a:extLst>
                </a:gridCol>
                <a:gridCol w="962093">
                  <a:extLst>
                    <a:ext uri="{9D8B030D-6E8A-4147-A177-3AD203B41FA5}">
                      <a16:colId xmlns:a16="http://schemas.microsoft.com/office/drawing/2014/main" val="695811601"/>
                    </a:ext>
                  </a:extLst>
                </a:gridCol>
                <a:gridCol w="2947085">
                  <a:extLst>
                    <a:ext uri="{9D8B030D-6E8A-4147-A177-3AD203B41FA5}">
                      <a16:colId xmlns:a16="http://schemas.microsoft.com/office/drawing/2014/main" val="2446707126"/>
                    </a:ext>
                  </a:extLst>
                </a:gridCol>
                <a:gridCol w="1289970">
                  <a:extLst>
                    <a:ext uri="{9D8B030D-6E8A-4147-A177-3AD203B41FA5}">
                      <a16:colId xmlns:a16="http://schemas.microsoft.com/office/drawing/2014/main" val="4248259330"/>
                    </a:ext>
                  </a:extLst>
                </a:gridCol>
                <a:gridCol w="3130658">
                  <a:extLst>
                    <a:ext uri="{9D8B030D-6E8A-4147-A177-3AD203B41FA5}">
                      <a16:colId xmlns:a16="http://schemas.microsoft.com/office/drawing/2014/main" val="1743573702"/>
                    </a:ext>
                  </a:extLst>
                </a:gridCol>
              </a:tblGrid>
              <a:tr h="30975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면담</a:t>
                      </a: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  <a:p>
                      <a:pPr algn="ctr" latinLnBrk="1"/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대상자</a:t>
                      </a: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소속</a:t>
                      </a:r>
                      <a:r>
                        <a:rPr lang="en-US" altLang="ko-KR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성명</a:t>
                      </a: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면담자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346690"/>
                  </a:ext>
                </a:extLst>
              </a:tr>
              <a:tr h="30975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주요 수행 업무</a:t>
                      </a: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면담 일시</a:t>
                      </a:r>
                      <a:endParaRPr lang="en-US" altLang="ko-KR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093700"/>
                  </a:ext>
                </a:extLst>
              </a:tr>
            </a:tbl>
          </a:graphicData>
        </a:graphic>
      </p:graphicFrame>
      <p:cxnSp>
        <p:nvCxnSpPr>
          <p:cNvPr id="36" name="직선 연결선 35"/>
          <p:cNvCxnSpPr/>
          <p:nvPr/>
        </p:nvCxnSpPr>
        <p:spPr>
          <a:xfrm>
            <a:off x="6567084" y="1907457"/>
            <a:ext cx="0" cy="4463643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6633321" y="1853456"/>
            <a:ext cx="3053120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□ 면담자 의견 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※ 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경험에 대한 조언 및 </a:t>
            </a:r>
            <a:r>
              <a:rPr lang="ko-KR" altLang="en-US" sz="9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위험성평가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의견</a:t>
            </a:r>
            <a:endParaRPr lang="en-US" altLang="ko-KR" sz="9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 pitchFamily="34" charset="0"/>
            </a:endParaRPr>
          </a:p>
        </p:txBody>
      </p:sp>
      <p:pic>
        <p:nvPicPr>
          <p:cNvPr id="3" name="그림 2" descr="폰트, 그래픽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70E9E5F-73C2-E71E-3424-8268CE4E35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122" y="6621429"/>
            <a:ext cx="1019452" cy="21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18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393726"/>
            <a:ext cx="9906000" cy="64642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Arial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80014" y="544767"/>
            <a:ext cx="9564291" cy="478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아차사고사례</a:t>
            </a:r>
            <a:r>
              <a:rPr lang="ko-KR" altLang="en-US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 발굴 보고서</a:t>
            </a:r>
            <a:endParaRPr lang="en-US" altLang="ko-KR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Arial" pitchFamily="34" charset="0"/>
            </a:endParaRPr>
          </a:p>
          <a:p>
            <a:pPr algn="ctr"/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(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실시방법 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: 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근무 중 실제 경험한 </a:t>
            </a:r>
            <a:r>
              <a:rPr lang="ko-KR" altLang="en-US" sz="10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아차사고사례를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통해 유해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위험요인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발생 원인 및 재발방지 대책을 찾음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)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97510" y="112478"/>
            <a:ext cx="4863498" cy="36997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4769" bIns="24923" rtlCol="0" anchor="t" anchorCtr="0"/>
          <a:lstStyle/>
          <a:p>
            <a:pPr defTabSz="623122" eaLnBrk="0" latinLnBrk="0" hangingPunct="0">
              <a:tabLst>
                <a:tab pos="309912" algn="l"/>
              </a:tabLst>
              <a:defRPr/>
            </a:pPr>
            <a:r>
              <a:rPr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사업장 </a:t>
            </a:r>
            <a:r>
              <a:rPr lang="ko-KR" altLang="en-US" sz="9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위험성평가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유해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·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위험요인 조사 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(</a:t>
            </a:r>
            <a:r>
              <a:rPr lang="ko-KR" altLang="en-US" sz="9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아차사고사례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발굴 보고서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)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180014" y="72927"/>
            <a:ext cx="45719" cy="288032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B05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5" name="직선 연결선 34"/>
          <p:cNvCxnSpPr/>
          <p:nvPr/>
        </p:nvCxnSpPr>
        <p:spPr>
          <a:xfrm>
            <a:off x="0" y="393726"/>
            <a:ext cx="9906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180014" y="1102904"/>
          <a:ext cx="9564291" cy="54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400">
                  <a:extLst>
                    <a:ext uri="{9D8B030D-6E8A-4147-A177-3AD203B41FA5}">
                      <a16:colId xmlns:a16="http://schemas.microsoft.com/office/drawing/2014/main" val="3977391178"/>
                    </a:ext>
                  </a:extLst>
                </a:gridCol>
                <a:gridCol w="5765794">
                  <a:extLst>
                    <a:ext uri="{9D8B030D-6E8A-4147-A177-3AD203B41FA5}">
                      <a16:colId xmlns:a16="http://schemas.microsoft.com/office/drawing/2014/main" val="74349475"/>
                    </a:ext>
                  </a:extLst>
                </a:gridCol>
                <a:gridCol w="3188097">
                  <a:extLst>
                    <a:ext uri="{9D8B030D-6E8A-4147-A177-3AD203B41FA5}">
                      <a16:colId xmlns:a16="http://schemas.microsoft.com/office/drawing/2014/main" val="95674232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제안자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□ 소속</a:t>
                      </a:r>
                      <a:r>
                        <a:rPr lang="en-US" altLang="ko-KR" sz="11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1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성명 </a:t>
                      </a:r>
                      <a:r>
                        <a:rPr lang="en-US" altLang="ko-KR" sz="11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: </a:t>
                      </a:r>
                      <a:endParaRPr lang="ko-KR" altLang="en-US" sz="11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086829"/>
                  </a:ext>
                </a:extLst>
              </a:tr>
              <a:tr h="475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아차</a:t>
                      </a:r>
                      <a:endParaRPr lang="en-US" altLang="ko-KR" sz="10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  <a:p>
                      <a:pPr algn="ctr"/>
                      <a:r>
                        <a:rPr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사고</a:t>
                      </a:r>
                      <a:endParaRPr lang="en-US" altLang="ko-KR" sz="10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  <a:p>
                      <a:pPr algn="ctr"/>
                      <a:r>
                        <a:rPr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사례</a:t>
                      </a:r>
                      <a:endParaRPr lang="en-US" altLang="ko-KR" sz="10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741974"/>
                  </a:ext>
                </a:extLst>
              </a:tr>
            </a:tbl>
          </a:graphicData>
        </a:graphic>
      </p:graphicFrame>
      <p:sp>
        <p:nvSpPr>
          <p:cNvPr id="23" name="직사각형 22"/>
          <p:cNvSpPr/>
          <p:nvPr/>
        </p:nvSpPr>
        <p:spPr>
          <a:xfrm>
            <a:off x="812522" y="1840568"/>
            <a:ext cx="4790115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□ </a:t>
            </a:r>
            <a:r>
              <a:rPr lang="ko-KR" altLang="en-US" sz="1100" b="1" kern="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아차사고</a:t>
            </a:r>
            <a:r>
              <a:rPr lang="ko-KR" altLang="en-US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내용 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(6</a:t>
            </a:r>
            <a:r>
              <a:rPr lang="ko-KR" altLang="en-US" sz="9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하원칙에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의해 구체적으로 작성해 주시기 바랍니다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.)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812522" y="5260126"/>
            <a:ext cx="4614593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□ 재발방지 대책 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(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작성자께서 생각하시는 의견을 자유롭게 작성해 주시기 바랍니다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.)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12522" y="4089499"/>
            <a:ext cx="4614593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□ 사고발생 원인 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(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작성자께서 생각하시는 원인을 자유롭게 작성해 주시기 바랍니다</a:t>
            </a:r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.)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6565303" y="1171108"/>
            <a:ext cx="3053120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[</a:t>
            </a:r>
            <a:r>
              <a:rPr lang="ko-KR" altLang="en-US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담당자 </a:t>
            </a:r>
            <a:r>
              <a:rPr lang="ko-KR" altLang="en-US" sz="1100" b="1" kern="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위험성평가</a:t>
            </a:r>
            <a:r>
              <a:rPr lang="ko-KR" altLang="en-US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반영 여부 검토 결과</a:t>
            </a:r>
            <a:r>
              <a:rPr lang="en-US" altLang="ko-KR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]</a:t>
            </a:r>
            <a:endParaRPr lang="en-US" altLang="ko-KR" sz="9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 pitchFamily="34" charset="0"/>
            </a:endParaRPr>
          </a:p>
        </p:txBody>
      </p:sp>
      <p:graphicFrame>
        <p:nvGraphicFramePr>
          <p:cNvPr id="27" name="표 26"/>
          <p:cNvGraphicFramePr>
            <a:graphicFrameLocks noGrp="1"/>
          </p:cNvGraphicFramePr>
          <p:nvPr/>
        </p:nvGraphicFramePr>
        <p:xfrm>
          <a:off x="6586653" y="2230025"/>
          <a:ext cx="3010420" cy="203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0420">
                  <a:extLst>
                    <a:ext uri="{9D8B030D-6E8A-4147-A177-3AD203B41FA5}">
                      <a16:colId xmlns:a16="http://schemas.microsoft.com/office/drawing/2014/main" val="4294033993"/>
                    </a:ext>
                  </a:extLst>
                </a:gridCol>
              </a:tblGrid>
              <a:tr h="41434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1. </a:t>
                      </a:r>
                      <a:r>
                        <a:rPr lang="ko-KR" altLang="en-US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당 현장 </a:t>
                      </a:r>
                      <a:r>
                        <a:rPr lang="ko-KR" altLang="en-US" sz="900" b="0" kern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안전보건과</a:t>
                      </a:r>
                      <a:r>
                        <a:rPr lang="ko-KR" altLang="en-US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관련된 </a:t>
                      </a:r>
                      <a:r>
                        <a:rPr lang="ko-KR" altLang="en-US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내용인가</a:t>
                      </a:r>
                      <a:br>
                        <a:rPr lang="en-US" altLang="ko-KR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</a:br>
                      <a:r>
                        <a:rPr lang="en-US" altLang="ko-KR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ko-KR" altLang="en-US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→ 안전사고가 아닌 기타 품질</a:t>
                      </a:r>
                      <a:r>
                        <a:rPr lang="en-US" altLang="ko-KR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하자 등을 유발하는 경우 </a:t>
                      </a:r>
                      <a:r>
                        <a:rPr lang="ko-KR" altLang="en-US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제외</a:t>
                      </a:r>
                    </a:p>
                  </a:txBody>
                  <a:tcPr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346690"/>
                  </a:ext>
                </a:extLst>
              </a:tr>
              <a:tr h="41434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2. </a:t>
                      </a:r>
                      <a:r>
                        <a:rPr lang="ko-KR" altLang="en-US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단순 조치로 해당 유해위험요인이 원천적으로 제거 되었는가</a:t>
                      </a:r>
                      <a:endParaRPr lang="en-US" altLang="ko-KR" sz="9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ko-KR" altLang="en-US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→ 더 이상 위험요인으로 될 가능성이 없는</a:t>
                      </a:r>
                      <a:r>
                        <a:rPr lang="ko-KR" altLang="en-US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경우 </a:t>
                      </a:r>
                      <a:r>
                        <a:rPr lang="ko-KR" altLang="en-US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제외</a:t>
                      </a:r>
                      <a:endParaRPr lang="ko-KR" altLang="en-US" sz="9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829529"/>
                  </a:ext>
                </a:extLst>
              </a:tr>
              <a:tr h="5575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3.</a:t>
                      </a:r>
                      <a:r>
                        <a:rPr lang="en-US" altLang="ko-KR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발생 원인이 근로자의 단순한 부주의에 의한 것인가</a:t>
                      </a:r>
                      <a:endParaRPr lang="en-US" altLang="ko-KR" sz="900" b="0" kern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ko-KR" altLang="en-US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→ </a:t>
                      </a:r>
                      <a:r>
                        <a:rPr lang="ko-KR" altLang="en-US" sz="900" b="0" kern="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수칙위반</a:t>
                      </a:r>
                      <a:r>
                        <a:rPr lang="en-US" altLang="ko-KR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작업방법 및 순서</a:t>
                      </a:r>
                      <a:r>
                        <a:rPr lang="en-US" altLang="ko-KR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주변 환경 등 전혀 관계없이</a:t>
                      </a:r>
                      <a:br>
                        <a:rPr lang="en-US" altLang="ko-KR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</a:br>
                      <a:r>
                        <a:rPr lang="en-US" altLang="ko-KR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ko-KR" altLang="en-US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발생한 경우 </a:t>
                      </a:r>
                      <a:r>
                        <a:rPr lang="ko-KR" altLang="en-US" sz="900" b="0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제외</a:t>
                      </a:r>
                      <a:endParaRPr lang="en-US" altLang="ko-KR" sz="900" b="0" kern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☞</a:t>
                      </a:r>
                      <a:r>
                        <a:rPr lang="en-US" altLang="ko-KR" sz="900" b="1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9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반영 제외 시</a:t>
                      </a:r>
                      <a:r>
                        <a:rPr lang="ko-KR" altLang="en-US" sz="9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작성</a:t>
                      </a:r>
                      <a:r>
                        <a:rPr lang="en-US" altLang="ko-KR" sz="9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제안</a:t>
                      </a:r>
                      <a:r>
                        <a:rPr lang="en-US" altLang="ko-KR" sz="9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)</a:t>
                      </a:r>
                      <a:r>
                        <a:rPr lang="ko-KR" altLang="en-US" sz="9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자에게 검토 결과 안내 후 종결</a:t>
                      </a:r>
                      <a:endParaRPr lang="en-US" altLang="ko-KR" sz="9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990016"/>
                  </a:ext>
                </a:extLst>
              </a:tr>
            </a:tbl>
          </a:graphicData>
        </a:graphic>
      </p:graphicFrame>
      <p:graphicFrame>
        <p:nvGraphicFramePr>
          <p:cNvPr id="28" name="표 27"/>
          <p:cNvGraphicFramePr>
            <a:graphicFrameLocks noGrp="1"/>
          </p:cNvGraphicFramePr>
          <p:nvPr/>
        </p:nvGraphicFramePr>
        <p:xfrm>
          <a:off x="6670733" y="4585450"/>
          <a:ext cx="2947690" cy="1851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192">
                  <a:extLst>
                    <a:ext uri="{9D8B030D-6E8A-4147-A177-3AD203B41FA5}">
                      <a16:colId xmlns:a16="http://schemas.microsoft.com/office/drawing/2014/main" val="4294033993"/>
                    </a:ext>
                  </a:extLst>
                </a:gridCol>
                <a:gridCol w="2392498">
                  <a:extLst>
                    <a:ext uri="{9D8B030D-6E8A-4147-A177-3AD203B41FA5}">
                      <a16:colId xmlns:a16="http://schemas.microsoft.com/office/drawing/2014/main" val="2446707126"/>
                    </a:ext>
                  </a:extLst>
                </a:gridCol>
              </a:tblGrid>
              <a:tr h="403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재해 형태</a:t>
                      </a:r>
                    </a:p>
                  </a:txBody>
                  <a:tcPr marL="36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36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46690"/>
                  </a:ext>
                </a:extLst>
              </a:tr>
              <a:tr h="14479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유해</a:t>
                      </a:r>
                      <a:r>
                        <a:rPr lang="en-US" altLang="ko-KR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·</a:t>
                      </a:r>
                      <a:r>
                        <a:rPr lang="ko-KR" altLang="en-US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위험</a:t>
                      </a:r>
                      <a:endParaRPr lang="en-US" altLang="ko-KR" sz="9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  <a:p>
                      <a:pPr algn="ctr" latinLnBrk="1"/>
                      <a:r>
                        <a:rPr lang="ko-KR" altLang="en-US" sz="9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요인</a:t>
                      </a:r>
                      <a:endParaRPr lang="en-US" altLang="ko-KR" sz="9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36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093700"/>
                  </a:ext>
                </a:extLst>
              </a:tr>
            </a:tbl>
          </a:graphicData>
        </a:graphic>
      </p:graphicFrame>
      <p:graphicFrame>
        <p:nvGraphicFramePr>
          <p:cNvPr id="29" name="표 28"/>
          <p:cNvGraphicFramePr>
            <a:graphicFrameLocks noGrp="1"/>
          </p:cNvGraphicFramePr>
          <p:nvPr/>
        </p:nvGraphicFramePr>
        <p:xfrm>
          <a:off x="6670733" y="1517357"/>
          <a:ext cx="2926340" cy="641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67">
                  <a:extLst>
                    <a:ext uri="{9D8B030D-6E8A-4147-A177-3AD203B41FA5}">
                      <a16:colId xmlns:a16="http://schemas.microsoft.com/office/drawing/2014/main" val="4294033993"/>
                    </a:ext>
                  </a:extLst>
                </a:gridCol>
                <a:gridCol w="2129473">
                  <a:extLst>
                    <a:ext uri="{9D8B030D-6E8A-4147-A177-3AD203B41FA5}">
                      <a16:colId xmlns:a16="http://schemas.microsoft.com/office/drawing/2014/main" val="2446707126"/>
                    </a:ext>
                  </a:extLst>
                </a:gridCol>
              </a:tblGrid>
              <a:tr h="32052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반영 여부</a:t>
                      </a:r>
                    </a:p>
                  </a:txBody>
                  <a:tcPr marL="36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      차기 </a:t>
                      </a:r>
                      <a:r>
                        <a:rPr lang="ko-KR" altLang="en-US" sz="1100" b="1" kern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위험성평가</a:t>
                      </a:r>
                      <a:r>
                        <a:rPr lang="ko-KR" altLang="en-US" sz="11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반영</a:t>
                      </a:r>
                    </a:p>
                  </a:txBody>
                  <a:tcPr marL="36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46690"/>
                  </a:ext>
                </a:extLst>
              </a:tr>
              <a:tr h="320527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ko-KR" altLang="en-US" sz="11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반영 제외</a:t>
                      </a:r>
                    </a:p>
                  </a:txBody>
                  <a:tcPr marL="3600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093700"/>
                  </a:ext>
                </a:extLst>
              </a:tr>
            </a:tbl>
          </a:graphicData>
        </a:graphic>
      </p:graphicFrame>
      <p:sp>
        <p:nvSpPr>
          <p:cNvPr id="31" name="직사각형 30"/>
          <p:cNvSpPr/>
          <p:nvPr/>
        </p:nvSpPr>
        <p:spPr>
          <a:xfrm>
            <a:off x="6565303" y="4274243"/>
            <a:ext cx="3053120" cy="306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※ </a:t>
            </a:r>
            <a:r>
              <a:rPr lang="ko-KR" altLang="en-US" sz="11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추가 검토 의견</a:t>
            </a:r>
            <a:endParaRPr lang="en-US" altLang="ko-KR" sz="9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 pitchFamily="34" charset="0"/>
            </a:endParaRP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110426" y="6597415"/>
            <a:ext cx="2729212" cy="2659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49846" tIns="0" rIns="49846" bIns="0" anchor="ctr"/>
          <a:lstStyle/>
          <a:p>
            <a:pPr algn="l" defTabSz="623122" eaLnBrk="0" latinLnBrk="0" hangingPunct="0">
              <a:tabLst>
                <a:tab pos="309912" algn="l"/>
              </a:tabLst>
              <a:defRPr/>
            </a:pPr>
            <a:r>
              <a:rPr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현대엔지니어링 자산관리사업본부</a:t>
            </a:r>
            <a:endParaRPr lang="en-US" altLang="ko-KR" sz="9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555706" y="1601469"/>
            <a:ext cx="144000" cy="144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7555706" y="1920171"/>
            <a:ext cx="144000" cy="144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287057" y="1339859"/>
            <a:ext cx="34323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(</a:t>
            </a:r>
            <a:r>
              <a:rPr lang="ko-KR" altLang="en-US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관리자 등 대리 작성 시 작성자 </a:t>
            </a:r>
            <a:r>
              <a:rPr lang="en-US" altLang="ko-KR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:                              )</a:t>
            </a:r>
          </a:p>
        </p:txBody>
      </p:sp>
      <p:pic>
        <p:nvPicPr>
          <p:cNvPr id="5" name="그림 4" descr="폰트, 그래픽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965A98F-42F1-A75A-E801-673AACEDCA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122" y="6621429"/>
            <a:ext cx="1019452" cy="21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37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59BCE558B7744FB6905CF7D13BEB07" ma:contentTypeVersion="16" ma:contentTypeDescription="Create a new document." ma:contentTypeScope="" ma:versionID="0fc2777abae406c8a4c408018321c126">
  <xsd:schema xmlns:xsd="http://www.w3.org/2001/XMLSchema" xmlns:xs="http://www.w3.org/2001/XMLSchema" xmlns:p="http://schemas.microsoft.com/office/2006/metadata/properties" xmlns:ns2="43d7e3a1-ce1c-4398-9b44-35bc273da7a1" xmlns:ns3="641dcc52-2ceb-43e3-a954-ec82e1093bee" targetNamespace="http://schemas.microsoft.com/office/2006/metadata/properties" ma:root="true" ma:fieldsID="2f3a9d6438bd39f77600c17e9481729d" ns2:_="" ns3:_="">
    <xsd:import namespace="43d7e3a1-ce1c-4398-9b44-35bc273da7a1"/>
    <xsd:import namespace="641dcc52-2ceb-43e3-a954-ec82e1093b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d7e3a1-ce1c-4398-9b44-35bc273da7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1fb70b6-d210-4b74-85ba-b603f93f2d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1dcc52-2ceb-43e3-a954-ec82e1093be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1907d45-a0a7-4cfd-b6cd-2e39fed8c6b7}" ma:internalName="TaxCatchAll" ma:showField="CatchAllData" ma:web="641dcc52-2ceb-43e3-a954-ec82e1093b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1dcc52-2ceb-43e3-a954-ec82e1093bee" xsi:nil="true"/>
    <lcf76f155ced4ddcb4097134ff3c332f xmlns="43d7e3a1-ce1c-4398-9b44-35bc273da7a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D5141-D14B-4138-B28E-54648E6420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d7e3a1-ce1c-4398-9b44-35bc273da7a1"/>
    <ds:schemaRef ds:uri="641dcc52-2ceb-43e3-a954-ec82e1093b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F0A30D-83F5-4FC5-B05A-974E4F6394F7}">
  <ds:schemaRefs>
    <ds:schemaRef ds:uri="http://schemas.microsoft.com/office/2006/metadata/properties"/>
    <ds:schemaRef ds:uri="http://schemas.microsoft.com/office/infopath/2007/PartnerControls"/>
    <ds:schemaRef ds:uri="641dcc52-2ceb-43e3-a954-ec82e1093bee"/>
    <ds:schemaRef ds:uri="43d7e3a1-ce1c-4398-9b44-35bc273da7a1"/>
  </ds:schemaRefs>
</ds:datastoreItem>
</file>

<file path=customXml/itemProps3.xml><?xml version="1.0" encoding="utf-8"?>
<ds:datastoreItem xmlns:ds="http://schemas.openxmlformats.org/officeDocument/2006/customXml" ds:itemID="{7B478BC4-966E-40E7-A7FA-8485A6D0659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Words>371</Words>
  <TotalTime>0</TotalTime>
  <Application>Microsoft Office PowerPoint</Application>
  <Template>Office Theme</Templ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임진규</dc:creator>
  <dcterms:modified xsi:type="dcterms:W3CDTF">2025-11-25T14:10:09Z</dcterms:modified>
  <dc:title>PowerPoint 프레젠테이션</dc:title>
  <cp:lastModifiedBy>임진규(LIMJINGYU) 매니저</cp:lastModifiedBy>
  <dcterms:created xsi:type="dcterms:W3CDTF">2023-08-11T06:30:37Z</dcterms:created>
  <cp:revision>4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0x010100B359BCE558B7744FB6905CF7D13BEB07</vt:lpwstr>
  </property>
  <property fmtid="{D5CDD505-2E9C-101B-9397-08002B2CF9AE}" pid="3" name="MSIP_Label_cdcaf456-5176-400c-b0e6-6301b2c47597_SiteId">
    <vt:lpwstr>a27ddcc1-bea5-4183-aa29-fd96d7612a1d</vt:lpwstr>
  </property>
  <property fmtid="{D5CDD505-2E9C-101B-9397-08002B2CF9AE}" pid="4" name="MSIP_Label_cdcaf456-5176-400c-b0e6-6301b2c47597_SetDate">
    <vt:lpwstr>2025-06-20T06:26:58Z</vt:lpwstr>
  </property>
  <property fmtid="{D5CDD505-2E9C-101B-9397-08002B2CF9AE}" pid="5" name="MSIP_Label_cdcaf456-5176-400c-b0e6-6301b2c47597_Name">
    <vt:lpwstr>대외비(Restricted)</vt:lpwstr>
  </property>
  <property fmtid="{D5CDD505-2E9C-101B-9397-08002B2CF9AE}" pid="6" name="MSIP_Label_cdcaf456-5176-400c-b0e6-6301b2c47597_Method">
    <vt:lpwstr>Privileged</vt:lpwstr>
  </property>
  <property fmtid="{D5CDD505-2E9C-101B-9397-08002B2CF9AE}" pid="7" name="MSIP_Label_cdcaf456-5176-400c-b0e6-6301b2c47597_Enabled">
    <vt:lpwstr>true</vt:lpwstr>
  </property>
  <property fmtid="{D5CDD505-2E9C-101B-9397-08002B2CF9AE}" pid="8" name="MSIP_Label_cdcaf456-5176-400c-b0e6-6301b2c47597_ContentBits">
    <vt:lpwstr>8</vt:lpwstr>
  </property>
</Properties>
</file>