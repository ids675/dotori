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15283" r:id="rId2"/>
    <p:sldId id="15284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32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5749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01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7354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249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1547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019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470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474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8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875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42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1322DC-D09E-4B94-AAB2-6D4D1F9D63CC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5F4F5-7AD7-4A7A-9867-12217E05414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C50699-23C6-AF99-3CAE-E78E9BF5C2D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8064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대외비(Restricted)</a:t>
            </a:r>
          </a:p>
        </p:txBody>
      </p:sp>
    </p:spTree>
    <p:extLst>
      <p:ext uri="{BB962C8B-B14F-4D97-AF65-F5344CB8AC3E}">
        <p14:creationId xmlns:p14="http://schemas.microsoft.com/office/powerpoint/2010/main" val="282101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4A6A-6D1D-68AF-A162-46A2E6461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3C6180B8-EE8A-8B41-7091-5D2FA465AA5C}"/>
              </a:ext>
            </a:extLst>
          </p:cNvPr>
          <p:cNvGrpSpPr/>
          <p:nvPr/>
        </p:nvGrpSpPr>
        <p:grpSpPr>
          <a:xfrm>
            <a:off x="225063" y="637329"/>
            <a:ext cx="6407906" cy="0"/>
            <a:chOff x="180000" y="683605"/>
            <a:chExt cx="6551999" cy="0"/>
          </a:xfrm>
        </p:grpSpPr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973C6232-0EBA-ED98-75CF-136F384B0A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999" y="683605"/>
              <a:ext cx="1656000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3611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5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현대하모니 L"/>
                <a:cs typeface="+mn-cs"/>
              </a:endParaRPr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D5DBF3B6-2E33-59C8-FC1F-669686CA3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000" y="683605"/>
              <a:ext cx="4842000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3611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5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현대하모니 L"/>
                <a:cs typeface="+mn-cs"/>
              </a:endParaRPr>
            </a:p>
          </p:txBody>
        </p:sp>
      </p:grpSp>
      <p:pic>
        <p:nvPicPr>
          <p:cNvPr id="6" name="그림 5" descr="폰트, 그래픽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4C07E2D-671D-15E7-6CAE-0EC5FB3315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796" y="300873"/>
            <a:ext cx="1293292" cy="2702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21F2CA0-AB58-03FB-2A1C-ED9309F1B190}"/>
              </a:ext>
            </a:extLst>
          </p:cNvPr>
          <p:cNvSpPr txBox="1"/>
          <p:nvPr/>
        </p:nvSpPr>
        <p:spPr>
          <a:xfrm>
            <a:off x="206641" y="257452"/>
            <a:ext cx="6135912" cy="3921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defTabSz="867583"/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곤돌라 </a:t>
            </a:r>
            <a:r>
              <a:rPr lang="ko-KR" altLang="en-US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운전자</a:t>
            </a:r>
            <a:r>
              <a:rPr lang="en-US" altLang="ko-KR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 </a:t>
            </a:r>
            <a:r>
              <a:rPr lang="ko-KR" altLang="en-US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기능평가 </a:t>
            </a:r>
            <a:r>
              <a:rPr lang="en-US" altLang="ko-KR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(2</a:t>
            </a:r>
            <a:r>
              <a:rPr lang="ko-KR" altLang="en-US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인 </a:t>
            </a:r>
            <a:r>
              <a:rPr lang="en-US" altLang="ko-KR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1</a:t>
            </a:r>
            <a:r>
              <a:rPr lang="ko-KR" altLang="en-US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조</a:t>
            </a:r>
            <a:r>
              <a:rPr lang="en-US" altLang="ko-KR" sz="2000" dirty="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)</a:t>
            </a:r>
            <a:endParaRPr lang="ko-KR" altLang="en-US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B213AB-4863-82B9-6469-DB57720A610F}"/>
              </a:ext>
            </a:extLst>
          </p:cNvPr>
          <p:cNvSpPr txBox="1"/>
          <p:nvPr/>
        </p:nvSpPr>
        <p:spPr>
          <a:xfrm>
            <a:off x="356815" y="765789"/>
            <a:ext cx="981777" cy="292388"/>
          </a:xfrm>
          <a:prstGeom prst="rect">
            <a:avLst/>
          </a:prstGeom>
          <a:noFill/>
        </p:spPr>
        <p:txBody>
          <a:bodyPr wrap="square" rIns="36000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spc="-50" dirty="0">
                <a:ln>
                  <a:solidFill>
                    <a:srgbClr val="FFFFFF">
                      <a:lumMod val="50000"/>
                      <a:alpha val="0"/>
                    </a:srgb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평가기준</a:t>
            </a:r>
            <a:endParaRPr lang="en-US" altLang="ko-KR" sz="1300" spc="-50" dirty="0">
              <a:ln>
                <a:solidFill>
                  <a:srgbClr val="FFFFFF">
                    <a:lumMod val="50000"/>
                    <a:alpha val="0"/>
                  </a:srgbClr>
                </a:solidFill>
              </a:ln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A2E4388-4458-4B6A-D431-68957AAA19E9}"/>
              </a:ext>
            </a:extLst>
          </p:cNvPr>
          <p:cNvCxnSpPr>
            <a:cxnSpLocks/>
          </p:cNvCxnSpPr>
          <p:nvPr/>
        </p:nvCxnSpPr>
        <p:spPr>
          <a:xfrm>
            <a:off x="391196" y="1052245"/>
            <a:ext cx="694654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377D2EE-B985-5D0D-3144-D365DCDA47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514397"/>
              </p:ext>
            </p:extLst>
          </p:nvPr>
        </p:nvGraphicFramePr>
        <p:xfrm>
          <a:off x="123825" y="1461136"/>
          <a:ext cx="6581775" cy="64446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1313">
                  <a:extLst>
                    <a:ext uri="{9D8B030D-6E8A-4147-A177-3AD203B41FA5}">
                      <a16:colId xmlns:a16="http://schemas.microsoft.com/office/drawing/2014/main" val="2906887644"/>
                    </a:ext>
                  </a:extLst>
                </a:gridCol>
                <a:gridCol w="758852">
                  <a:extLst>
                    <a:ext uri="{9D8B030D-6E8A-4147-A177-3AD203B41FA5}">
                      <a16:colId xmlns:a16="http://schemas.microsoft.com/office/drawing/2014/main" val="1731937161"/>
                    </a:ext>
                  </a:extLst>
                </a:gridCol>
                <a:gridCol w="4142175">
                  <a:extLst>
                    <a:ext uri="{9D8B030D-6E8A-4147-A177-3AD203B41FA5}">
                      <a16:colId xmlns:a16="http://schemas.microsoft.com/office/drawing/2014/main" val="210062475"/>
                    </a:ext>
                  </a:extLst>
                </a:gridCol>
                <a:gridCol w="1079435">
                  <a:extLst>
                    <a:ext uri="{9D8B030D-6E8A-4147-A177-3AD203B41FA5}">
                      <a16:colId xmlns:a16="http://schemas.microsoft.com/office/drawing/2014/main" val="975161643"/>
                    </a:ext>
                  </a:extLst>
                </a:gridCol>
              </a:tblGrid>
              <a:tr h="627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No</a:t>
                      </a:r>
                      <a:endParaRPr lang="ko-KR" altLang="en-US" sz="1200" b="1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351" marR="4351" marT="435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평가항목</a:t>
                      </a:r>
                    </a:p>
                  </a:txBody>
                  <a:tcPr marL="4351" marR="4351" marT="43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4351" marR="4351" marT="43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배점</a:t>
                      </a:r>
                      <a:endParaRPr lang="en-US" altLang="ko-KR" sz="1200" b="1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351" marR="4351" marT="43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073818"/>
                  </a:ext>
                </a:extLst>
              </a:tr>
              <a:tr h="6463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50" dirty="0">
                          <a:ln>
                            <a:solidFill>
                              <a:srgbClr val="FFFFFF">
                                <a:lumMod val="50000"/>
                                <a:alpha val="0"/>
                              </a:srgb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사용 전 점검</a:t>
                      </a: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추락방지대 설치 및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안전고리 체결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미준수</a:t>
                      </a:r>
                      <a:r>
                        <a:rPr lang="ko-KR" altLang="en-US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시 실격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001241"/>
                  </a:ext>
                </a:extLst>
              </a:tr>
              <a:tr h="6463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리모컨 및 </a:t>
                      </a:r>
                      <a:r>
                        <a:rPr lang="ko-KR" altLang="en-US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제어판넬의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비상정지 스위치 조작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760603"/>
                  </a:ext>
                </a:extLst>
              </a:tr>
              <a:tr h="6463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err="1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권과방지장치</a:t>
                      </a:r>
                      <a:r>
                        <a:rPr lang="ko-KR" altLang="en-US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센서 작동 시 운전 중지 여부 확인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155534"/>
                  </a:ext>
                </a:extLst>
              </a:tr>
              <a:tr h="6463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50" dirty="0">
                          <a:ln>
                            <a:solidFill>
                              <a:srgbClr val="FFFFFF">
                                <a:lumMod val="50000"/>
                                <a:alpha val="0"/>
                              </a:srgb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조작방법</a:t>
                      </a: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리모컨으로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Cage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 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이동 조작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79092"/>
                  </a:ext>
                </a:extLst>
              </a:tr>
              <a:tr h="6463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좌</a:t>
                      </a:r>
                      <a:r>
                        <a:rPr lang="en-US" altLang="ko-KR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우 운전스위치 조작 및 수평 조정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876307"/>
                  </a:ext>
                </a:extLst>
              </a:tr>
              <a:tr h="6463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50" dirty="0">
                          <a:ln>
                            <a:solidFill>
                              <a:srgbClr val="FFFFFF">
                                <a:lumMod val="50000"/>
                                <a:alpha val="0"/>
                              </a:srgb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비상시</a:t>
                      </a: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50" dirty="0">
                          <a:ln>
                            <a:solidFill>
                              <a:srgbClr val="FFFFFF">
                                <a:lumMod val="50000"/>
                                <a:alpha val="0"/>
                              </a:srgb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조치방법</a:t>
                      </a: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수동 하강장치 작동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52527"/>
                  </a:ext>
                </a:extLst>
              </a:tr>
              <a:tr h="6463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리모컨의 비상정지 스위치 조작 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전원 차단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81565"/>
                  </a:ext>
                </a:extLst>
              </a:tr>
              <a:tr h="6463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50">
                          <a:ln>
                            <a:solidFill>
                              <a:srgbClr val="FFFFFF">
                                <a:lumMod val="50000"/>
                                <a:alpha val="0"/>
                              </a:srgbClr>
                            </a:solidFill>
                          </a:ln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사용 후 정리</a:t>
                      </a:r>
                      <a:endParaRPr lang="en-US" altLang="ko-KR" sz="1200" b="0" spc="-5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Cage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복귀 및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Key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회수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전원차단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와이어</a:t>
                      </a:r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전선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구명줄 정리정돈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4825908"/>
                  </a:ext>
                </a:extLst>
              </a:tr>
              <a:tr h="646349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총 점</a:t>
                      </a:r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401143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9B2B7A8-17AD-1320-DCB6-2B86A8C7BF3D}"/>
              </a:ext>
            </a:extLst>
          </p:cNvPr>
          <p:cNvSpPr txBox="1"/>
          <p:nvPr/>
        </p:nvSpPr>
        <p:spPr>
          <a:xfrm>
            <a:off x="356815" y="1107890"/>
            <a:ext cx="5786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-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합격기준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70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점 이상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단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추락방지대 설치 및 안전고리 체결 기준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미준수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시 실격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BB652F4-F868-5751-6147-C112E6C64ECD}"/>
              </a:ext>
            </a:extLst>
          </p:cNvPr>
          <p:cNvSpPr/>
          <p:nvPr/>
        </p:nvSpPr>
        <p:spPr>
          <a:xfrm>
            <a:off x="294187" y="817698"/>
            <a:ext cx="76973" cy="2008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현대하모니 L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443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83C621-623B-7FE1-7591-782F33FE4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그룹 13">
            <a:extLst>
              <a:ext uri="{FF2B5EF4-FFF2-40B4-BE49-F238E27FC236}">
                <a16:creationId xmlns:a16="http://schemas.microsoft.com/office/drawing/2014/main" id="{F70AB918-E95B-AF88-F400-61526B1C2F0D}"/>
              </a:ext>
            </a:extLst>
          </p:cNvPr>
          <p:cNvGrpSpPr/>
          <p:nvPr/>
        </p:nvGrpSpPr>
        <p:grpSpPr>
          <a:xfrm>
            <a:off x="225063" y="637329"/>
            <a:ext cx="6407906" cy="0"/>
            <a:chOff x="180000" y="683605"/>
            <a:chExt cx="6551999" cy="0"/>
          </a:xfrm>
        </p:grpSpPr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5400438E-B26A-42B9-7910-88969750B4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5999" y="683605"/>
              <a:ext cx="1656000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3611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5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현대하모니 L"/>
                <a:cs typeface="+mn-cs"/>
              </a:endParaRPr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25A9EE13-523E-5439-C5C6-9AFA12D7EB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0000" y="683605"/>
              <a:ext cx="4842000" cy="0"/>
            </a:xfrm>
            <a:prstGeom prst="line">
              <a:avLst/>
            </a:prstGeom>
            <a:noFill/>
            <a:ln w="25400">
              <a:solidFill>
                <a:srgbClr val="AEAEAE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3611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58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현대하모니 L"/>
                <a:cs typeface="+mn-cs"/>
              </a:endParaRPr>
            </a:p>
          </p:txBody>
        </p:sp>
      </p:grpSp>
      <p:pic>
        <p:nvPicPr>
          <p:cNvPr id="6" name="그림 5" descr="폰트, 그래픽, 스크린샷, 디자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50621EA-C56D-9DEB-87F4-134C7DDFC3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5796" y="300873"/>
            <a:ext cx="1293292" cy="27029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F503676-EE96-5CDC-55B3-EA597A6D70CF}"/>
              </a:ext>
            </a:extLst>
          </p:cNvPr>
          <p:cNvSpPr txBox="1"/>
          <p:nvPr/>
        </p:nvSpPr>
        <p:spPr>
          <a:xfrm>
            <a:off x="206641" y="257452"/>
            <a:ext cx="6135912" cy="3921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 anchorCtr="0">
            <a:noAutofit/>
          </a:bodyPr>
          <a:lstStyle/>
          <a:p>
            <a:pPr defTabSz="867583"/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교육</a:t>
            </a:r>
            <a:r>
              <a:rPr lang="en-US" altLang="ko-KR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/</a:t>
            </a:r>
            <a:r>
              <a:rPr lang="ko-KR" altLang="en-US" sz="2000">
                <a:ln>
                  <a:solidFill>
                    <a:prstClr val="white">
                      <a:lumMod val="75000"/>
                      <a:alpha val="0"/>
                    </a:prstClr>
                  </a:solidFill>
                </a:ln>
                <a:latin typeface="현대하모니 B" panose="02020603020101020101" pitchFamily="18" charset="-127"/>
                <a:ea typeface="현대하모니 B" panose="02020603020101020101" pitchFamily="18" charset="-127"/>
              </a:rPr>
              <a:t>기능평가 관리대장</a:t>
            </a:r>
            <a:endParaRPr lang="ko-KR" altLang="en-US" sz="2000" dirty="0">
              <a:ln>
                <a:solidFill>
                  <a:prstClr val="white">
                    <a:lumMod val="75000"/>
                    <a:alpha val="0"/>
                  </a:prst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8CD8443-C7AC-589D-78B1-B1686B3209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4703930"/>
              </p:ext>
            </p:extLst>
          </p:nvPr>
        </p:nvGraphicFramePr>
        <p:xfrm>
          <a:off x="123825" y="861026"/>
          <a:ext cx="6573411" cy="89433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509">
                  <a:extLst>
                    <a:ext uri="{9D8B030D-6E8A-4147-A177-3AD203B41FA5}">
                      <a16:colId xmlns:a16="http://schemas.microsoft.com/office/drawing/2014/main" val="2906887644"/>
                    </a:ext>
                  </a:extLst>
                </a:gridCol>
                <a:gridCol w="988631">
                  <a:extLst>
                    <a:ext uri="{9D8B030D-6E8A-4147-A177-3AD203B41FA5}">
                      <a16:colId xmlns:a16="http://schemas.microsoft.com/office/drawing/2014/main" val="1731937161"/>
                    </a:ext>
                  </a:extLst>
                </a:gridCol>
                <a:gridCol w="1000685">
                  <a:extLst>
                    <a:ext uri="{9D8B030D-6E8A-4147-A177-3AD203B41FA5}">
                      <a16:colId xmlns:a16="http://schemas.microsoft.com/office/drawing/2014/main" val="246888681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10062475"/>
                    </a:ext>
                  </a:extLst>
                </a:gridCol>
                <a:gridCol w="568138">
                  <a:extLst>
                    <a:ext uri="{9D8B030D-6E8A-4147-A177-3AD203B41FA5}">
                      <a16:colId xmlns:a16="http://schemas.microsoft.com/office/drawing/2014/main" val="12833511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623296704"/>
                    </a:ext>
                  </a:extLst>
                </a:gridCol>
                <a:gridCol w="1004048">
                  <a:extLst>
                    <a:ext uri="{9D8B030D-6E8A-4147-A177-3AD203B41FA5}">
                      <a16:colId xmlns:a16="http://schemas.microsoft.com/office/drawing/2014/main" val="975161643"/>
                    </a:ext>
                  </a:extLst>
                </a:gridCol>
              </a:tblGrid>
              <a:tr h="41401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i="0" u="none" strike="noStrike" dirty="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No</a:t>
                      </a:r>
                      <a:endParaRPr lang="ko-KR" altLang="en-US" sz="1200" b="1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4351" marR="4351" marT="4351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kern="12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업체명</a:t>
                      </a:r>
                      <a:endParaRPr lang="ko-KR" altLang="en-US" sz="1200" b="1" i="0" u="none" strike="noStrike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351" marR="4351" marT="43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kern="12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성명</a:t>
                      </a:r>
                      <a:endParaRPr lang="ko-KR" altLang="en-US" sz="1200" b="1" i="0" u="none" strike="noStrike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351" marR="4351" marT="43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u="none" strike="noStrike" kern="12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ea typeface="현대하모니 L" panose="02020603020101020101" pitchFamily="18" charset="-127"/>
                          <a:cs typeface="+mn-cs"/>
                        </a:rPr>
                        <a:t>합격일자</a:t>
                      </a:r>
                      <a:endParaRPr sz="1200" b="1" i="0" u="none" strike="noStrike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351" marR="4351" marT="43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u="none" strike="noStrike" kern="12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ea typeface="현대하모니 L" panose="02020603020101020101" pitchFamily="18" charset="-127"/>
                          <a:cs typeface="+mn-cs"/>
                        </a:rPr>
                        <a:t>점수</a:t>
                      </a:r>
                      <a:endParaRPr sz="1200" b="1" i="0" u="none" strike="noStrike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351" marR="4351" marT="43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u="none" strike="noStrike" kern="12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ea typeface="현대하모니 L" panose="02020603020101020101" pitchFamily="18" charset="-127"/>
                          <a:cs typeface="+mn-cs"/>
                        </a:rPr>
                        <a:t>특별안전교육 일자</a:t>
                      </a:r>
                      <a:endParaRPr sz="1200" b="1" i="0" u="none" strike="noStrike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351" marR="4351" marT="43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kern="1200">
                          <a:ln>
                            <a:solidFill>
                              <a:schemeClr val="bg1">
                                <a:lumMod val="75000"/>
                                <a:alpha val="0"/>
                              </a:schemeClr>
                            </a:solidFill>
                          </a:ln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서명</a:t>
                      </a:r>
                      <a:endParaRPr lang="en-US" altLang="ko-KR" sz="1200" b="1" i="0" u="none" strike="noStrike" kern="1200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4351" marR="4351" marT="4351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4073818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9001241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3760603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155534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379092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876307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552527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81565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046400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9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504134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342979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11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735859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12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694150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4895943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2344265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272733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846478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17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2491899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18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988609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19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786692"/>
                  </a:ext>
                </a:extLst>
              </a:tr>
              <a:tr h="4264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200" b="0" spc="-50" dirty="0">
                        <a:ln>
                          <a:solidFill>
                            <a:srgbClr val="FFFFFF">
                              <a:lumMod val="50000"/>
                              <a:alpha val="0"/>
                            </a:srgbClr>
                          </a:solidFill>
                        </a:ln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200" b="0" i="0" u="none" strike="noStrike" dirty="0">
                        <a:ln>
                          <a:solidFill>
                            <a:schemeClr val="bg1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11130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4960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11ee6e5-21a0-48c4-8af4-6cc1347f763e}" enabled="1" method="Privileged" siteId="{a27ddcc1-bea5-4183-aa29-fd96d7612a1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152</Words>
  <Application>Microsoft Office PowerPoint</Application>
  <PresentationFormat>A4 용지(210x297mm)</PresentationFormat>
  <Paragraphs>66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0" baseType="lpstr">
      <vt:lpstr>현대하모니 B</vt:lpstr>
      <vt:lpstr>현대하모니 L</vt:lpstr>
      <vt:lpstr>Aptos</vt:lpstr>
      <vt:lpstr>Aptos Display</vt:lpstr>
      <vt:lpstr>Arial</vt:lpstr>
      <vt:lpstr>Arial Narrow</vt:lpstr>
      <vt:lpstr>Calibri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임진규(LIMJINGYU) 매니저</dc:creator>
  <cp:lastModifiedBy>임진규(LIMJINGYU) 매니저</cp:lastModifiedBy>
  <cp:revision>3</cp:revision>
  <dcterms:created xsi:type="dcterms:W3CDTF">2026-03-11T06:14:06Z</dcterms:created>
  <dcterms:modified xsi:type="dcterms:W3CDTF">2026-03-16T00:50:06Z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테마:8</vt:lpwstr>
  </property>
  <property fmtid="{D5CDD505-2E9C-101B-9397-08002B2CF9AE}" pid="3" name="ClassificationContentMarkingHeaderText">
    <vt:lpwstr>대외비(Restricted)</vt:lpwstr>
  </property>
</Properties>
</file>