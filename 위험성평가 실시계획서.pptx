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1"/>
  </p:handoutMasterIdLst>
  <p:sldIdLst>
    <p:sldId id="271" r:id="rId2"/>
    <p:sldId id="270" r:id="rId3"/>
    <p:sldId id="272" r:id="rId4"/>
    <p:sldId id="273" r:id="rId5"/>
    <p:sldId id="274" r:id="rId6"/>
    <p:sldId id="278" r:id="rId7"/>
    <p:sldId id="276" r:id="rId8"/>
    <p:sldId id="280" r:id="rId9"/>
    <p:sldId id="279" r:id="rId10"/>
  </p:sldIdLst>
  <p:sldSz cx="6858000" cy="9906000" type="A4"/>
  <p:notesSz cx="6735763" cy="9866313"/>
  <p:defaultTextStyle>
    <a:defPPr>
      <a:defRPr lang="ko-KR"/>
    </a:defPPr>
    <a:lvl1pPr marL="0" algn="l" defTabSz="91434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1" algn="l" defTabSz="91434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41" algn="l" defTabSz="91434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13" algn="l" defTabSz="91434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83" algn="l" defTabSz="91434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54" algn="l" defTabSz="91434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24" algn="l" defTabSz="91434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196" algn="l" defTabSz="91434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366" algn="l" defTabSz="91434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orient="horz" pos="250">
          <p15:clr>
            <a:srgbClr val="A4A3A4"/>
          </p15:clr>
        </p15:guide>
        <p15:guide id="3" orient="horz" pos="23">
          <p15:clr>
            <a:srgbClr val="A4A3A4"/>
          </p15:clr>
        </p15:guide>
        <p15:guide id="4" orient="horz" pos="99">
          <p15:clr>
            <a:srgbClr val="A4A3A4"/>
          </p15:clr>
        </p15:guide>
        <p15:guide id="5" pos="2160">
          <p15:clr>
            <a:srgbClr val="A4A3A4"/>
          </p15:clr>
        </p15:guide>
        <p15:guide id="6" pos="121">
          <p15:clr>
            <a:srgbClr val="A4A3A4"/>
          </p15:clr>
        </p15:guide>
        <p15:guide id="7" pos="4199">
          <p15:clr>
            <a:srgbClr val="A4A3A4"/>
          </p15:clr>
        </p15:guide>
        <p15:guide id="8" pos="171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7">
          <p15:clr>
            <a:srgbClr val="A4A3A4"/>
          </p15:clr>
        </p15:guide>
        <p15:guide id="2" pos="212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398F"/>
    <a:srgbClr val="EDF2FD"/>
    <a:srgbClr val="C5D4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46" autoAdjust="0"/>
    <p:restoredTop sz="94660"/>
  </p:normalViewPr>
  <p:slideViewPr>
    <p:cSldViewPr showGuides="1">
      <p:cViewPr varScale="1">
        <p:scale>
          <a:sx n="75" d="100"/>
          <a:sy n="75" d="100"/>
        </p:scale>
        <p:origin x="3354" y="78"/>
      </p:cViewPr>
      <p:guideLst>
        <p:guide orient="horz" pos="3120"/>
        <p:guide orient="horz" pos="250"/>
        <p:guide orient="horz" pos="23"/>
        <p:guide orient="horz" pos="99"/>
        <p:guide pos="2160"/>
        <p:guide pos="121"/>
        <p:guide pos="4199"/>
        <p:guide pos="1712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9" d="100"/>
          <a:sy n="79" d="100"/>
        </p:scale>
        <p:origin x="-3360" y="-102"/>
      </p:cViewPr>
      <p:guideLst>
        <p:guide orient="horz" pos="3107"/>
        <p:guide pos="2121"/>
      </p:guideLst>
    </p:cSldViewPr>
  </p:notesViewPr>
  <p:gridSpacing cx="119895" cy="11989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19413" cy="493713"/>
          </a:xfrm>
          <a:prstGeom prst="rect">
            <a:avLst/>
          </a:prstGeom>
        </p:spPr>
        <p:txBody>
          <a:bodyPr vert="horz" lIns="91434" tIns="45717" rIns="91434" bIns="4571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4763" y="1"/>
            <a:ext cx="2919412" cy="493713"/>
          </a:xfrm>
          <a:prstGeom prst="rect">
            <a:avLst/>
          </a:prstGeom>
        </p:spPr>
        <p:txBody>
          <a:bodyPr vert="horz" lIns="91434" tIns="45717" rIns="91434" bIns="45717" rtlCol="0"/>
          <a:lstStyle>
            <a:lvl1pPr algn="r">
              <a:defRPr sz="1200"/>
            </a:lvl1pPr>
          </a:lstStyle>
          <a:p>
            <a:fld id="{9CA5DD38-F5CA-4C23-8CC9-640A3108B55D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371013"/>
            <a:ext cx="2919413" cy="493712"/>
          </a:xfrm>
          <a:prstGeom prst="rect">
            <a:avLst/>
          </a:prstGeom>
        </p:spPr>
        <p:txBody>
          <a:bodyPr vert="horz" lIns="91434" tIns="45717" rIns="91434" bIns="4571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</p:spPr>
        <p:txBody>
          <a:bodyPr vert="horz" lIns="91434" tIns="45717" rIns="91434" bIns="45717" rtlCol="0" anchor="b"/>
          <a:lstStyle>
            <a:lvl1pPr algn="r">
              <a:defRPr sz="1200"/>
            </a:lvl1pPr>
          </a:lstStyle>
          <a:p>
            <a:fld id="{6EC9C973-E18C-43F4-B26B-984DD3401B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8700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hdec\Desktop\띠-01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45722"/>
          <a:stretch/>
        </p:blipFill>
        <p:spPr bwMode="auto">
          <a:xfrm>
            <a:off x="414557" y="2488814"/>
            <a:ext cx="6028885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텍스트 개체 틀 5"/>
          <p:cNvSpPr>
            <a:spLocks noGrp="1"/>
          </p:cNvSpPr>
          <p:nvPr>
            <p:ph type="body" sz="quarter" idx="11"/>
          </p:nvPr>
        </p:nvSpPr>
        <p:spPr>
          <a:xfrm>
            <a:off x="490312" y="2592352"/>
            <a:ext cx="5877376" cy="323165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 defTabSz="914341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500" b="1" kern="1200" spc="-4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0"/>
          </p:nvPr>
        </p:nvSpPr>
        <p:spPr>
          <a:xfrm>
            <a:off x="393701" y="1909931"/>
            <a:ext cx="6070598" cy="492443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lang="ko-KR" altLang="en-US" sz="2600" b="1" kern="1200" spc="-40" baseline="0" smtClean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0" name="텍스트 개체 틀 5"/>
          <p:cNvSpPr>
            <a:spLocks noGrp="1"/>
          </p:cNvSpPr>
          <p:nvPr>
            <p:ph type="body" sz="quarter" idx="12"/>
          </p:nvPr>
        </p:nvSpPr>
        <p:spPr>
          <a:xfrm>
            <a:off x="505326" y="8646212"/>
            <a:ext cx="5847348" cy="323165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 defTabSz="914341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500" b="0" kern="1200" spc="-40" baseline="0" dirty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텍스트 개체 틀 5"/>
          <p:cNvSpPr>
            <a:spLocks noGrp="1"/>
          </p:cNvSpPr>
          <p:nvPr>
            <p:ph type="body" sz="quarter" idx="13"/>
          </p:nvPr>
        </p:nvSpPr>
        <p:spPr>
          <a:xfrm>
            <a:off x="505326" y="9025835"/>
            <a:ext cx="5847348" cy="60016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341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500" b="1" kern="1200" spc="-40" baseline="0" dirty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  <a:endParaRPr lang="en-US" altLang="ko-KR" dirty="0"/>
          </a:p>
          <a:p>
            <a:pPr lvl="0"/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hdec\Desktop\띠-01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770" y="192262"/>
            <a:ext cx="6324599" cy="88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슬라이드 번호 개체 틀 4"/>
          <p:cNvSpPr>
            <a:spLocks/>
          </p:cNvSpPr>
          <p:nvPr userDrawn="1"/>
        </p:nvSpPr>
        <p:spPr bwMode="auto">
          <a:xfrm>
            <a:off x="6074714" y="9591564"/>
            <a:ext cx="514286" cy="3206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3" tIns="45711" rIns="91423" bIns="45711" anchor="ctr"/>
          <a:lstStyle/>
          <a:p>
            <a:pPr algn="ctr" eaLnBrk="0" latinLnBrk="0" hangingPunct="0">
              <a:defRPr/>
            </a:pPr>
            <a:fld id="{9F3055C0-8058-4EC0-96CA-597D62A330C4}" type="slidenum">
              <a:rPr lang="en-US" altLang="ko-KR" sz="1100" b="1" smtClean="0">
                <a:ea typeface="굴림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lang="en-US" altLang="ko-KR" sz="1100" b="1">
                <a:ea typeface="굴림" pitchFamily="50" charset="-127"/>
              </a:rPr>
              <a:t>/9</a:t>
            </a:r>
            <a:endParaRPr lang="en-US" altLang="ko-KR" sz="1100" b="1" dirty="0">
              <a:ea typeface="굴림" pitchFamily="50" charset="-127"/>
            </a:endParaRPr>
          </a:p>
        </p:txBody>
      </p:sp>
      <p:sp>
        <p:nvSpPr>
          <p:cNvPr id="5" name="내용 개체 틀 3"/>
          <p:cNvSpPr>
            <a:spLocks noGrp="1"/>
          </p:cNvSpPr>
          <p:nvPr>
            <p:ph sz="quarter" idx="12"/>
          </p:nvPr>
        </p:nvSpPr>
        <p:spPr>
          <a:xfrm>
            <a:off x="277619" y="482624"/>
            <a:ext cx="5947868" cy="374625"/>
          </a:xfrm>
          <a:prstGeom prst="rect">
            <a:avLst/>
          </a:prstGeom>
        </p:spPr>
        <p:txBody>
          <a:bodyPr/>
          <a:lstStyle>
            <a:lvl1pPr marL="0" indent="-252000" algn="l" defTabSz="914228" rtl="0" eaLnBrk="1" latinLnBrk="1" hangingPunct="1">
              <a:lnSpc>
                <a:spcPct val="100000"/>
              </a:lnSpc>
              <a:buFont typeface="맑은 고딕" panose="020B0503020000020004" pitchFamily="50" charset="-127"/>
              <a:buChar char="■"/>
              <a:defRPr lang="ko-KR" altLang="en-US" sz="1400" b="1" kern="1200" dirty="0" smtClean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144000" indent="0">
              <a:lnSpc>
                <a:spcPct val="150000"/>
              </a:lnSpc>
              <a:buFont typeface="+mj-lt"/>
              <a:buNone/>
              <a:defRPr sz="1100"/>
            </a:lvl2pPr>
            <a:lvl3pPr marL="432000" indent="-171450">
              <a:lnSpc>
                <a:spcPct val="150000"/>
              </a:lnSpc>
              <a:buFont typeface="맑은 고딕" panose="020B0503020000020004" pitchFamily="50" charset="-127"/>
              <a:buChar char="–"/>
              <a:defRPr sz="1000"/>
            </a:lvl3pPr>
            <a:lvl4pPr marL="1371342" indent="0">
              <a:buNone/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내용 개체 틀 3"/>
          <p:cNvSpPr>
            <a:spLocks noGrp="1"/>
          </p:cNvSpPr>
          <p:nvPr>
            <p:ph sz="quarter" idx="10"/>
          </p:nvPr>
        </p:nvSpPr>
        <p:spPr>
          <a:xfrm>
            <a:off x="516885" y="857250"/>
            <a:ext cx="5789596" cy="5323892"/>
          </a:xfrm>
          <a:prstGeom prst="rect">
            <a:avLst/>
          </a:prstGeom>
        </p:spPr>
        <p:txBody>
          <a:bodyPr/>
          <a:lstStyle>
            <a:lvl1pPr marL="0" indent="-180000" algn="l" defTabSz="914228" rtl="0" eaLnBrk="1" latinLnBrk="1" hangingPunct="1">
              <a:lnSpc>
                <a:spcPct val="150000"/>
              </a:lnSpc>
              <a:buFont typeface="+mj-lt"/>
              <a:buAutoNum type="arabicPeriod"/>
              <a:defRPr lang="ko-KR" altLang="en-US" sz="1200" b="1" kern="1200" dirty="0" smtClean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96000" indent="-180000">
              <a:lnSpc>
                <a:spcPts val="1500"/>
              </a:lnSpc>
              <a:buFont typeface="+mj-lt"/>
              <a:buAutoNum type="arabicParenR"/>
              <a:defRPr sz="1100"/>
            </a:lvl2pPr>
            <a:lvl3pPr marL="612000" indent="-180000">
              <a:lnSpc>
                <a:spcPts val="1250"/>
              </a:lnSpc>
              <a:buFont typeface="+mj-ea"/>
              <a:buAutoNum type="circleNumDbPlain"/>
              <a:defRPr sz="1000"/>
            </a:lvl3pPr>
            <a:lvl4pPr marL="1371342" indent="0">
              <a:buNone/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341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78" indent="-342878" algn="l" defTabSz="914341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03" indent="-285732" algn="l" defTabSz="914341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27" indent="-228586" algn="l" defTabSz="914341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97" indent="-228586" algn="l" defTabSz="914341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68" indent="-228586" algn="l" defTabSz="914341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39" indent="-228586" algn="l" defTabSz="914341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10" indent="-228586" algn="l" defTabSz="914341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80" indent="-228586" algn="l" defTabSz="914341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51" indent="-228586" algn="l" defTabSz="914341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41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1" algn="l" defTabSz="914341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41" algn="l" defTabSz="914341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13" algn="l" defTabSz="914341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83" algn="l" defTabSz="914341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54" algn="l" defTabSz="914341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24" algn="l" defTabSz="914341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96" algn="l" defTabSz="914341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66" algn="l" defTabSz="914341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텍스트 개체 틀 16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 defTabSz="1042988" fontAlgn="base">
              <a:spcAft>
                <a:spcPct val="0"/>
              </a:spcAft>
              <a:defRPr/>
            </a:pPr>
            <a:r>
              <a:rPr lang="en-US" altLang="ko-KR" sz="2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『</a:t>
            </a:r>
            <a:r>
              <a:rPr lang="ko-KR" altLang="en-US" sz="2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위험성평가</a:t>
            </a:r>
            <a:r>
              <a:rPr lang="en-US" altLang="ko-KR" sz="2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』</a:t>
            </a:r>
            <a:r>
              <a:rPr lang="ko-KR" altLang="en-US" sz="2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실시 계획서</a:t>
            </a:r>
            <a:endParaRPr lang="en-US" altLang="ko-KR" sz="2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505326" y="8549850"/>
            <a:ext cx="5847348" cy="323165"/>
          </a:xfrm>
        </p:spPr>
        <p:txBody>
          <a:bodyPr/>
          <a:lstStyle/>
          <a:p>
            <a:r>
              <a:rPr lang="en-US" altLang="ko-KR"/>
              <a:t>2000. </a:t>
            </a:r>
            <a:r>
              <a:rPr lang="en-US" altLang="ko-KR" dirty="0"/>
              <a:t>00. 00.</a:t>
            </a:r>
            <a:endParaRPr lang="ko-KR" altLang="en-US" dirty="0"/>
          </a:p>
        </p:txBody>
      </p:sp>
      <p:sp>
        <p:nvSpPr>
          <p:cNvPr id="30" name="텍스트 개체 틀 29"/>
          <p:cNvSpPr>
            <a:spLocks noGrp="1"/>
          </p:cNvSpPr>
          <p:nvPr>
            <p:ph type="body" sz="quarter" idx="13"/>
          </p:nvPr>
        </p:nvSpPr>
        <p:spPr>
          <a:xfrm>
            <a:off x="505326" y="9025835"/>
            <a:ext cx="5847348" cy="600164"/>
          </a:xfrm>
        </p:spPr>
        <p:txBody>
          <a:bodyPr/>
          <a:lstStyle/>
          <a:p>
            <a:r>
              <a:rPr lang="ko-KR" altLang="en-US"/>
              <a:t>자산관리사업본부 </a:t>
            </a:r>
            <a:r>
              <a:rPr lang="ko-KR" altLang="en-US" dirty="0"/>
              <a:t>자산관리</a:t>
            </a:r>
            <a:r>
              <a:rPr lang="en-US" altLang="ko-KR" dirty="0"/>
              <a:t>0</a:t>
            </a:r>
            <a:r>
              <a:rPr lang="ko-KR" altLang="en-US" dirty="0"/>
              <a:t>팀</a:t>
            </a:r>
            <a:endParaRPr lang="en-US" altLang="ko-KR" dirty="0"/>
          </a:p>
          <a:p>
            <a:r>
              <a:rPr lang="en-US" altLang="ko-KR" dirty="0"/>
              <a:t>000</a:t>
            </a:r>
            <a:r>
              <a:rPr lang="ko-KR" altLang="en-US" dirty="0"/>
              <a:t>사업장</a:t>
            </a:r>
            <a:endParaRPr lang="en-US" altLang="ko-KR" dirty="0"/>
          </a:p>
        </p:txBody>
      </p:sp>
      <p:graphicFrame>
        <p:nvGraphicFramePr>
          <p:cNvPr id="16" name="Group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4624469"/>
              </p:ext>
            </p:extLst>
          </p:nvPr>
        </p:nvGraphicFramePr>
        <p:xfrm>
          <a:off x="2171276" y="4024864"/>
          <a:ext cx="2515447" cy="1246600"/>
        </p:xfrm>
        <a:graphic>
          <a:graphicData uri="http://schemas.openxmlformats.org/drawingml/2006/table">
            <a:tbl>
              <a:tblPr/>
              <a:tblGrid>
                <a:gridCol w="290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03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2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72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1953">
                <a:tc rowSpan="3">
                  <a:txBody>
                    <a:bodyPr/>
                    <a:lstStyle/>
                    <a:p>
                      <a:pPr marL="0" marR="0" lvl="0" indent="0" algn="ctr" defTabSz="104298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결</a:t>
                      </a: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ctr" defTabSz="104298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재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작  성</a:t>
                      </a: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84698" marR="84698" marT="41495" marB="41495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검  토</a:t>
                      </a:r>
                    </a:p>
                  </a:txBody>
                  <a:tcPr marL="84698" marR="84698" marT="41495" marB="41495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승  인</a:t>
                      </a:r>
                    </a:p>
                  </a:txBody>
                  <a:tcPr marL="84698" marR="84698" marT="41495" marB="41495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6038">
                <a:tc vMerge="1">
                  <a:txBody>
                    <a:bodyPr/>
                    <a:lstStyle/>
                    <a:p>
                      <a:pPr marL="0" marR="0" lvl="0" indent="0" algn="ctr" defTabSz="104298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84698" marR="84698" marT="41513" marB="41513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altLang="ko-KR" sz="800" b="0" i="1" u="none" strike="noStrike" kern="1200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84698" marR="84698" marT="41495" marB="41495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altLang="ko-KR" sz="800" b="0" i="1" u="none" strike="noStrike" kern="1200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84698" marR="84698" marT="41495" marB="41495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altLang="ko-KR" sz="800" b="0" i="1" u="none" strike="noStrike" kern="1200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84698" marR="84698" marT="41495" marB="41495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790">
                <a:tc vMerge="1">
                  <a:txBody>
                    <a:bodyPr/>
                    <a:lstStyle/>
                    <a:p>
                      <a:pPr marL="0" marR="0" lvl="0" indent="0" algn="ctr" defTabSz="104298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○○○</a:t>
                      </a: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○○○ </a:t>
                      </a: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○○○ </a:t>
                      </a: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382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날짜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/</a:t>
                      </a:r>
                      <a:endParaRPr kumimoji="0" lang="ko-KR" altLang="en-U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/</a:t>
                      </a:r>
                      <a:endParaRPr kumimoji="0" lang="ko-KR" altLang="en-U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2" name="그림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8" y="240465"/>
            <a:ext cx="1801372" cy="259081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732729">
            <a:off x="1615283" y="4459181"/>
            <a:ext cx="3627434" cy="987638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1470108" y="5437258"/>
            <a:ext cx="3917784" cy="5994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12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참여근로자 </a:t>
            </a:r>
            <a:r>
              <a:rPr lang="en-US" altLang="ko-KR" sz="12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: </a:t>
            </a:r>
            <a:endParaRPr lang="ko-KR" altLang="en-US" sz="120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50725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16"/>
          <p:cNvSpPr txBox="1">
            <a:spLocks/>
          </p:cNvSpPr>
          <p:nvPr/>
        </p:nvSpPr>
        <p:spPr>
          <a:xfrm>
            <a:off x="393701" y="516885"/>
            <a:ext cx="6070598" cy="492443"/>
          </a:xfrm>
          <a:prstGeom prst="rect">
            <a:avLst/>
          </a:prstGeom>
        </p:spPr>
        <p:txBody>
          <a:bodyPr/>
          <a:lstStyle>
            <a:lvl1pPr marL="0" indent="-180000" algn="l" defTabSz="914228" rtl="0" eaLnBrk="1" latinLnBrk="1" hangingPunct="1">
              <a:lnSpc>
                <a:spcPct val="150000"/>
              </a:lnSpc>
              <a:spcBef>
                <a:spcPct val="20000"/>
              </a:spcBef>
              <a:buFont typeface="+mj-lt"/>
              <a:buAutoNum type="arabicPeriod"/>
              <a:defRPr lang="ko-KR" altLang="en-US" sz="1200" b="1" kern="1200" dirty="0" smtClean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96000" indent="-180000" algn="l" defTabSz="914341" rtl="0" eaLnBrk="1" latinLnBrk="1" hangingPunct="1">
              <a:lnSpc>
                <a:spcPts val="1500"/>
              </a:lnSpc>
              <a:spcBef>
                <a:spcPct val="20000"/>
              </a:spcBef>
              <a:buFont typeface="+mj-lt"/>
              <a:buAutoNum type="arabicParenR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12000" indent="-180000" algn="l" defTabSz="914341" rtl="0" eaLnBrk="1" latinLnBrk="1" hangingPunct="1">
              <a:lnSpc>
                <a:spcPts val="1250"/>
              </a:lnSpc>
              <a:spcBef>
                <a:spcPct val="20000"/>
              </a:spcBef>
              <a:buFont typeface="+mj-ea"/>
              <a:buAutoNum type="circleNumDbPlain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42" indent="0" algn="l" defTabSz="914341" rtl="0" eaLnBrk="1" latinLnBrk="1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68" indent="-228586" algn="l" defTabSz="914341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39" indent="-228586" algn="l" defTabSz="914341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10" indent="-228586" algn="l" defTabSz="914341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80" indent="-228586" algn="l" defTabSz="914341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51" indent="-228586" algn="l" defTabSz="914341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 defTabSz="1042988" fontAlgn="base">
              <a:spcAft>
                <a:spcPct val="0"/>
              </a:spcAft>
              <a:buNone/>
              <a:defRPr/>
            </a:pP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『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위험성평가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』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실시 계획서</a:t>
            </a:r>
          </a:p>
        </p:txBody>
      </p:sp>
      <p:sp>
        <p:nvSpPr>
          <p:cNvPr id="6" name="텍스트 개체 틀 16"/>
          <p:cNvSpPr txBox="1">
            <a:spLocks/>
          </p:cNvSpPr>
          <p:nvPr/>
        </p:nvSpPr>
        <p:spPr>
          <a:xfrm>
            <a:off x="393701" y="1236255"/>
            <a:ext cx="6070598" cy="7913070"/>
          </a:xfrm>
          <a:prstGeom prst="rect">
            <a:avLst/>
          </a:prstGeom>
        </p:spPr>
        <p:txBody>
          <a:bodyPr/>
          <a:lstStyle>
            <a:lvl1pPr marL="0" indent="-180000" algn="l" defTabSz="914228" rtl="0" eaLnBrk="1" latinLnBrk="1" hangingPunct="1">
              <a:lnSpc>
                <a:spcPct val="150000"/>
              </a:lnSpc>
              <a:spcBef>
                <a:spcPct val="20000"/>
              </a:spcBef>
              <a:buFont typeface="+mj-lt"/>
              <a:buAutoNum type="arabicPeriod"/>
              <a:defRPr lang="ko-KR" altLang="en-US" sz="1200" b="1" kern="1200" dirty="0" smtClean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96000" indent="-180000" algn="l" defTabSz="914341" rtl="0" eaLnBrk="1" latinLnBrk="1" hangingPunct="1">
              <a:lnSpc>
                <a:spcPts val="1500"/>
              </a:lnSpc>
              <a:spcBef>
                <a:spcPct val="20000"/>
              </a:spcBef>
              <a:buFont typeface="+mj-lt"/>
              <a:buAutoNum type="arabicParenR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12000" indent="-180000" algn="l" defTabSz="914341" rtl="0" eaLnBrk="1" latinLnBrk="1" hangingPunct="1">
              <a:lnSpc>
                <a:spcPts val="1250"/>
              </a:lnSpc>
              <a:spcBef>
                <a:spcPct val="20000"/>
              </a:spcBef>
              <a:buFont typeface="+mj-ea"/>
              <a:buAutoNum type="circleNumDbPlain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42" indent="0" algn="l" defTabSz="914341" rtl="0" eaLnBrk="1" latinLnBrk="1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68" indent="-228586" algn="l" defTabSz="914341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39" indent="-228586" algn="l" defTabSz="914341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10" indent="-228586" algn="l" defTabSz="914341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80" indent="-228586" algn="l" defTabSz="914341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51" indent="-228586" algn="l" defTabSz="914341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563" indent="-182563" defTabSz="1042988" fontAlgn="base">
              <a:spcAft>
                <a:spcPct val="0"/>
              </a:spcAft>
              <a:buNone/>
              <a:defRPr/>
            </a:pP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목적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 실시계획서는 </a:t>
            </a:r>
            <a:r>
              <a:rPr lang="en-US" altLang="ko-KR" b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000</a:t>
            </a:r>
            <a:r>
              <a:rPr lang="ko-KR" altLang="en-US" b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사업장 전체의 유해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위험요인을 파악하고 위험성을 추정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결정한 후 위험성을 감소시키기 위해 필요한 조치를 실시함을 목적으로 한다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marL="182563" indent="-182563" defTabSz="1042988" fontAlgn="base">
              <a:spcAft>
                <a:spcPct val="0"/>
              </a:spcAft>
              <a:buNone/>
              <a:defRPr/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82563" indent="-182563" defTabSz="1042988" fontAlgn="base">
              <a:spcAft>
                <a:spcPct val="0"/>
              </a:spcAft>
              <a:buNone/>
              <a:defRPr/>
            </a:pP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2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적용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 실시계획서는 우리 회사에서 수행하는 모든 작업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설비 및 공정의 위험성평가에 대한 범위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절차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책임과 권한에 </a:t>
            </a:r>
            <a:r>
              <a:rPr lang="ko-KR" altLang="en-US" b="0">
                <a:latin typeface="맑은 고딕" panose="020B0503020000020004" pitchFamily="50" charset="-127"/>
                <a:ea typeface="맑은 고딕" panose="020B0503020000020004" pitchFamily="50" charset="-127"/>
              </a:rPr>
              <a:t>대하여 적용하며</a:t>
            </a:r>
            <a:r>
              <a:rPr lang="en-US" altLang="ko-KR" b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/>
              <a:t>「자산관리 사업장 안전보건관리 규정</a:t>
            </a:r>
            <a:r>
              <a:rPr lang="en-US" altLang="ko-KR" b="0"/>
              <a:t>(SOP-FM-GN-GL-004)</a:t>
            </a:r>
            <a:r>
              <a:rPr lang="ko-KR" altLang="en-US" b="0">
                <a:latin typeface="맑은 고딕" panose="020B0503020000020004" pitchFamily="50" charset="-127"/>
                <a:ea typeface="맑은 고딕" panose="020B0503020000020004" pitchFamily="50" charset="-127"/>
              </a:rPr>
              <a:t>」의 내용을 준용한다</a:t>
            </a:r>
            <a:r>
              <a:rPr lang="en-US" altLang="ko-KR" b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42925" indent="-542925" defTabSz="1042988" fontAlgn="base">
              <a:spcAft>
                <a:spcPct val="0"/>
              </a:spcAft>
              <a:buNone/>
              <a:defRPr/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42925" indent="-542925" defTabSz="1042988" fontAlgn="base">
              <a:spcAft>
                <a:spcPct val="0"/>
              </a:spcAft>
              <a:buNone/>
              <a:defRPr/>
            </a:pP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조직의 구성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en-US" altLang="ko-KR" b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000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사업장 위험성평가 조직의 구성은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1.&gt;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과 </a:t>
            </a:r>
            <a:r>
              <a:rPr lang="ko-KR" altLang="en-US" b="0">
                <a:latin typeface="맑은 고딕" panose="020B0503020000020004" pitchFamily="50" charset="-127"/>
                <a:ea typeface="맑은 고딕" panose="020B0503020000020004" pitchFamily="50" charset="-127"/>
              </a:rPr>
              <a:t>같다</a:t>
            </a:r>
            <a:r>
              <a:rPr lang="en-US" altLang="ko-KR" b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542925" indent="-542925" defTabSz="1042988" fontAlgn="base">
              <a:spcAft>
                <a:spcPct val="0"/>
              </a:spcAft>
              <a:buNone/>
              <a:defRPr/>
            </a:pPr>
            <a:endParaRPr lang="en-US" altLang="ko-KR" b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42925" indent="-542925" defTabSz="1042988" fontAlgn="base">
              <a:spcAft>
                <a:spcPct val="0"/>
              </a:spcAft>
              <a:buNone/>
              <a:defRPr/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42925" indent="-542925" algn="ctr" defTabSz="1042988" fontAlgn="base">
              <a:spcAft>
                <a:spcPct val="0"/>
              </a:spcAft>
              <a:buNone/>
              <a:defRPr/>
            </a:pP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조직도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 flipH="1">
            <a:off x="551520" y="4593315"/>
            <a:ext cx="5754960" cy="4556010"/>
          </a:xfrm>
          <a:prstGeom prst="rect">
            <a:avLst/>
          </a:prstGeom>
          <a:noFill/>
          <a:ln w="6350">
            <a:solidFill>
              <a:srgbClr val="1439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i="1" u="sng" dirty="0">
                <a:solidFill>
                  <a:schemeClr val="accent2"/>
                </a:solidFill>
              </a:rPr>
              <a:t>사업장 조직도 삽입</a:t>
            </a:r>
            <a:endParaRPr lang="en-US" altLang="ko-KR" i="1" u="sng" dirty="0">
              <a:solidFill>
                <a:schemeClr val="accent2"/>
              </a:solidFill>
            </a:endParaRPr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732729">
            <a:off x="1615283" y="4459181"/>
            <a:ext cx="3627434" cy="987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619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16"/>
          <p:cNvSpPr txBox="1">
            <a:spLocks/>
          </p:cNvSpPr>
          <p:nvPr/>
        </p:nvSpPr>
        <p:spPr>
          <a:xfrm>
            <a:off x="393701" y="516885"/>
            <a:ext cx="6070598" cy="7913070"/>
          </a:xfrm>
          <a:prstGeom prst="rect">
            <a:avLst/>
          </a:prstGeom>
        </p:spPr>
        <p:txBody>
          <a:bodyPr/>
          <a:lstStyle>
            <a:lvl1pPr marL="0" indent="-180000" algn="l" defTabSz="914228" rtl="0" eaLnBrk="1" latinLnBrk="1" hangingPunct="1">
              <a:lnSpc>
                <a:spcPct val="150000"/>
              </a:lnSpc>
              <a:spcBef>
                <a:spcPct val="20000"/>
              </a:spcBef>
              <a:buFont typeface="+mj-lt"/>
              <a:buAutoNum type="arabicPeriod"/>
              <a:defRPr lang="ko-KR" altLang="en-US" sz="1200" b="1" kern="1200" dirty="0" smtClean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96000" indent="-180000" algn="l" defTabSz="914341" rtl="0" eaLnBrk="1" latinLnBrk="1" hangingPunct="1">
              <a:lnSpc>
                <a:spcPts val="1500"/>
              </a:lnSpc>
              <a:spcBef>
                <a:spcPct val="20000"/>
              </a:spcBef>
              <a:buFont typeface="+mj-lt"/>
              <a:buAutoNum type="arabicParenR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12000" indent="-180000" algn="l" defTabSz="914341" rtl="0" eaLnBrk="1" latinLnBrk="1" hangingPunct="1">
              <a:lnSpc>
                <a:spcPts val="1250"/>
              </a:lnSpc>
              <a:spcBef>
                <a:spcPct val="20000"/>
              </a:spcBef>
              <a:buFont typeface="+mj-ea"/>
              <a:buAutoNum type="circleNumDbPlain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42" indent="0" algn="l" defTabSz="914341" rtl="0" eaLnBrk="1" latinLnBrk="1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68" indent="-228586" algn="l" defTabSz="914341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39" indent="-228586" algn="l" defTabSz="914341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10" indent="-228586" algn="l" defTabSz="914341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80" indent="-228586" algn="l" defTabSz="914341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51" indent="-228586" algn="l" defTabSz="914341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42925" indent="-542925" defTabSz="1042988" fontAlgn="base">
              <a:spcAft>
                <a:spcPct val="0"/>
              </a:spcAft>
              <a:buNone/>
              <a:defRPr/>
            </a:pP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역할과 책임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위험성평가 조직의 역할과 책임은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2.&gt;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와 같이 한다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542925" indent="-542925" algn="ctr" defTabSz="1042988" fontAlgn="base">
              <a:spcAft>
                <a:spcPct val="0"/>
              </a:spcAft>
              <a:buNone/>
              <a:defRPr/>
            </a:pP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2.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위험성평가 조직의 역할과 책임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786833"/>
              </p:ext>
            </p:extLst>
          </p:nvPr>
        </p:nvGraphicFramePr>
        <p:xfrm>
          <a:off x="436179" y="1236257"/>
          <a:ext cx="5984069" cy="8163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4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조  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역할과 책임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권한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860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dirty="0"/>
                        <a:t>사업장안전책임자</a:t>
                      </a:r>
                      <a:endParaRPr lang="en-US" altLang="ko-KR" sz="12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200" dirty="0"/>
                        <a:t>(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000</a:t>
                      </a:r>
                      <a:r>
                        <a:rPr lang="ko-KR" altLang="en-US" sz="1200" baseline="0" dirty="0"/>
                        <a:t> 부장</a:t>
                      </a:r>
                      <a:r>
                        <a:rPr lang="en-US" altLang="ko-KR" sz="1200" baseline="0" dirty="0"/>
                        <a:t>)</a:t>
                      </a:r>
                      <a:endParaRPr lang="en-US" altLang="ko-KR" sz="12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4625" indent="-174625" latinLnBrk="1">
                        <a:lnSpc>
                          <a:spcPct val="100000"/>
                        </a:lnSpc>
                      </a:pPr>
                      <a:r>
                        <a:rPr lang="ko-KR" altLang="en-US" sz="1200"/>
                        <a:t>○ 「위험성평가 실시 계획서」의 작성 및 실행</a:t>
                      </a:r>
                    </a:p>
                    <a:p>
                      <a:pPr marL="174625" indent="-174625" latinLnBrk="1">
                        <a:lnSpc>
                          <a:spcPct val="100000"/>
                        </a:lnSpc>
                      </a:pPr>
                      <a:r>
                        <a:rPr lang="ko-KR" altLang="en-US" sz="1200"/>
                        <a:t>○ 중요한 위험요인에 대한 위험성 관리</a:t>
                      </a:r>
                    </a:p>
                    <a:p>
                      <a:pPr marL="174625" indent="-174625" latinLnBrk="1">
                        <a:lnSpc>
                          <a:spcPct val="100000"/>
                        </a:lnSpc>
                      </a:pPr>
                      <a:r>
                        <a:rPr lang="ko-KR" altLang="en-US" sz="1200"/>
                        <a:t>○ 관리 대상 위험요인에 대한 개선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관리대책 수립 및 이행</a:t>
                      </a:r>
                    </a:p>
                    <a:p>
                      <a:pPr marL="182563" indent="-182563" latinLnBrk="1">
                        <a:lnSpc>
                          <a:spcPct val="100000"/>
                        </a:lnSpc>
                      </a:pPr>
                      <a:r>
                        <a:rPr lang="ko-KR" altLang="en-US" sz="1200"/>
                        <a:t>○ 본사 및 고용노동부 등 관련 기관으로부터 제공되는 위험성평가 자료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사고 사례 등을 참조하여 위험성평가의 구성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활동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관리계획 수립 및 전반적인 실행을 지원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결정</a:t>
                      </a:r>
                    </a:p>
                    <a:p>
                      <a:pPr marL="174625" indent="-174625" latinLnBrk="1">
                        <a:lnSpc>
                          <a:spcPct val="100000"/>
                        </a:lnSpc>
                      </a:pPr>
                      <a:r>
                        <a:rPr lang="ko-KR" altLang="en-US" sz="1200"/>
                        <a:t>○ 위험성평가 결과에 따라 중점관리 위험요인 결정 및 승인 등 위험성평가를 총괄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399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dirty="0"/>
                        <a:t>직종별 담당자</a:t>
                      </a:r>
                      <a:endParaRPr lang="en-US" altLang="ko-KR" sz="12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200" dirty="0"/>
                        <a:t>(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000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과장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4625" indent="-174625" latinLnBrk="1">
                        <a:lnSpc>
                          <a:spcPct val="100000"/>
                        </a:lnSpc>
                      </a:pPr>
                      <a:r>
                        <a:rPr lang="ko-KR" altLang="en-US" sz="1200"/>
                        <a:t>○ 사업장의 수행 작업내용 및 유해</a:t>
                      </a:r>
                      <a:r>
                        <a:rPr lang="en-US" altLang="ko-KR" sz="1200"/>
                        <a:t>·</a:t>
                      </a:r>
                      <a:r>
                        <a:rPr lang="ko-KR" altLang="en-US" sz="1200"/>
                        <a:t>위험요인의 파악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위험성의 추정 및 위험성 감소대책의 수립</a:t>
                      </a:r>
                      <a:r>
                        <a:rPr lang="en-US" altLang="ko-KR" sz="1200"/>
                        <a:t>·</a:t>
                      </a:r>
                      <a:r>
                        <a:rPr lang="ko-KR" altLang="en-US" sz="1200"/>
                        <a:t>실행</a:t>
                      </a:r>
                    </a:p>
                    <a:p>
                      <a:pPr marL="174625" indent="-174625" latinLnBrk="1">
                        <a:lnSpc>
                          <a:spcPct val="100000"/>
                        </a:lnSpc>
                      </a:pPr>
                      <a:r>
                        <a:rPr lang="ko-KR" altLang="en-US" sz="1200"/>
                        <a:t>○ 기계기구의 경우 전문지식을 갖춘 자를 참여하게 할 것</a:t>
                      </a:r>
                    </a:p>
                    <a:p>
                      <a:pPr marL="174625" indent="-174625" latinLnBrk="1">
                        <a:lnSpc>
                          <a:spcPct val="100000"/>
                        </a:lnSpc>
                      </a:pPr>
                      <a:r>
                        <a:rPr lang="ko-KR" altLang="en-US" sz="1200"/>
                        <a:t>○ 위험감소대책</a:t>
                      </a:r>
                      <a:r>
                        <a:rPr lang="en-US" altLang="ko-KR" sz="1200"/>
                        <a:t>(</a:t>
                      </a:r>
                      <a:r>
                        <a:rPr lang="ko-KR" altLang="en-US" sz="1200"/>
                        <a:t>대책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실행계획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일정계획</a:t>
                      </a:r>
                      <a:r>
                        <a:rPr lang="en-US" altLang="ko-KR" sz="1200"/>
                        <a:t>), </a:t>
                      </a:r>
                      <a:r>
                        <a:rPr lang="ko-KR" altLang="en-US" sz="1200"/>
                        <a:t>실행 및 이행여부 담당자 등을 구체적으로 지정</a:t>
                      </a:r>
                    </a:p>
                    <a:p>
                      <a:pPr marL="174625" indent="-174625" latinLnBrk="1">
                        <a:lnSpc>
                          <a:spcPct val="100000"/>
                        </a:lnSpc>
                      </a:pPr>
                      <a:r>
                        <a:rPr lang="ko-KR" altLang="en-US" sz="1200"/>
                        <a:t>○ 담당 업무 범위 내 협력업체에서 작성한 위험성평가표의 위험요인 누락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대책의 적정성 등 검토 후 의견 전달 및 위험성 감소대책 실행 및 이행여부 확인 감독</a:t>
                      </a:r>
                    </a:p>
                    <a:p>
                      <a:pPr marL="174625" indent="-174625" latinLnBrk="1">
                        <a:lnSpc>
                          <a:spcPct val="100000"/>
                        </a:lnSpc>
                      </a:pPr>
                      <a:r>
                        <a:rPr lang="ko-KR" altLang="en-US" sz="1200"/>
                        <a:t>○ 작업장의 유해</a:t>
                      </a:r>
                      <a:r>
                        <a:rPr lang="en-US" altLang="ko-KR" sz="1200"/>
                        <a:t>·</a:t>
                      </a:r>
                      <a:r>
                        <a:rPr lang="ko-KR" altLang="en-US" sz="1200"/>
                        <a:t>위험요인을 발견하거나 보고 받은 경우 즉시 개선 또는 작업중지 등 필요한 조치 실시 및 그 조치의 이행여부 확인 감독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5860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/>
                        <a:t>협력업체 </a:t>
                      </a:r>
                      <a:r>
                        <a:rPr lang="ko-KR" altLang="en-US" sz="1200" dirty="0"/>
                        <a:t>소장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4625" indent="-174625" algn="l" latinLnBrk="1">
                        <a:lnSpc>
                          <a:spcPct val="100000"/>
                        </a:lnSpc>
                      </a:pPr>
                      <a:r>
                        <a:rPr lang="ko-KR" altLang="en-US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○ 사업장에서 제공되는 위험성평가 자료 및 사업장의 경험을 토대로 발생 가능한 유해</a:t>
                      </a:r>
                      <a:r>
                        <a:rPr lang="en-US" altLang="ko-KR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위험요인 파악</a:t>
                      </a:r>
                      <a:r>
                        <a:rPr lang="en-US" altLang="ko-KR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위험성의 추정</a:t>
                      </a:r>
                      <a:r>
                        <a:rPr lang="en-US" altLang="ko-KR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결정</a:t>
                      </a:r>
                      <a:r>
                        <a:rPr lang="en-US" altLang="ko-KR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위험성 감소대책의 수립</a:t>
                      </a:r>
                      <a:r>
                        <a:rPr lang="en-US" altLang="ko-KR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실행</a:t>
                      </a:r>
                    </a:p>
                    <a:p>
                      <a:pPr marL="174625" indent="-174625" algn="l" latinLnBrk="1">
                        <a:lnSpc>
                          <a:spcPct val="100000"/>
                        </a:lnSpc>
                      </a:pPr>
                      <a:r>
                        <a:rPr lang="ko-KR" altLang="en-US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○ 위험성평가 시 도출된 위험요인 및 협의된 안전대책을 소속작업자에게 유효한 방법으로 전달하고</a:t>
                      </a:r>
                      <a:r>
                        <a:rPr lang="en-US" altLang="ko-KR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안전을 확보하기 위한 모든 조치의 실행</a:t>
                      </a:r>
                    </a:p>
                    <a:p>
                      <a:pPr marL="174625" indent="-174625" algn="l" latinLnBrk="1">
                        <a:lnSpc>
                          <a:spcPct val="100000"/>
                        </a:lnSpc>
                      </a:pPr>
                      <a:r>
                        <a:rPr lang="ko-KR" altLang="en-US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○ </a:t>
                      </a:r>
                      <a:r>
                        <a:rPr lang="en-US" altLang="ko-KR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HEC </a:t>
                      </a:r>
                      <a:r>
                        <a:rPr lang="ko-KR" altLang="en-US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사업장안전책임자의 책임에 준하여 해당 협력업체에 적용토록 한다</a:t>
                      </a:r>
                      <a:r>
                        <a:rPr lang="en-US" altLang="ko-KR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6834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dirty="0"/>
                        <a:t>근로자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작업자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○ 담당업무과 관련된 위험성평가 참여</a:t>
                      </a:r>
                    </a:p>
                    <a:p>
                      <a:pPr marL="177800" indent="-177800" algn="l" latinLnBrk="1">
                        <a:lnSpc>
                          <a:spcPct val="100000"/>
                        </a:lnSpc>
                      </a:pPr>
                      <a:r>
                        <a:rPr lang="ko-KR" altLang="en-US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○ 담당업무에 대한 안전보건수칙 및 위험성평가 시 협의된 안전대책의 확인 및 준수</a:t>
                      </a: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○ 비상상황에 대한 대비 및 대응방법 숙지</a:t>
                      </a:r>
                    </a:p>
                    <a:p>
                      <a:pPr marL="177800" indent="-177800" algn="l" latinLnBrk="1">
                        <a:lnSpc>
                          <a:spcPct val="100000"/>
                        </a:lnSpc>
                      </a:pPr>
                      <a:r>
                        <a:rPr lang="ko-KR" altLang="en-US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○ 작업 전</a:t>
                      </a:r>
                      <a:r>
                        <a:rPr lang="en-US" altLang="ko-KR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중 예기치 못한 유해</a:t>
                      </a:r>
                      <a:r>
                        <a:rPr lang="en-US" altLang="ko-KR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위험요인을 발견하거나 예측되는 때에 관리감독자에게 보고 후 후속 조치 진행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3791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/>
                        <a:t>안전관리자</a:t>
                      </a:r>
                      <a:r>
                        <a:rPr lang="en-US" altLang="ko-KR" sz="1200"/>
                        <a:t>/</a:t>
                      </a:r>
                      <a:br>
                        <a:rPr lang="en-US" altLang="ko-KR" sz="1200"/>
                      </a:br>
                      <a:r>
                        <a:rPr lang="ko-KR" altLang="en-US" sz="1200"/>
                        <a:t>보건관리자</a:t>
                      </a:r>
                      <a:br>
                        <a:rPr lang="en-US" altLang="ko-KR" sz="1200"/>
                      </a:br>
                      <a:r>
                        <a:rPr lang="en-US" altLang="ko-KR" sz="1200"/>
                        <a:t>(</a:t>
                      </a:r>
                      <a:r>
                        <a:rPr lang="ko-KR" altLang="en-US" sz="1200"/>
                        <a:t>존재 시</a:t>
                      </a:r>
                      <a:r>
                        <a:rPr lang="en-US" altLang="ko-KR" sz="1200"/>
                        <a:t>)</a:t>
                      </a:r>
                      <a:endParaRPr lang="ko-KR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○ 사업장의 위험성평가의 실시 담당</a:t>
                      </a: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○ 위험성평가의 실시에서 사업장안전책임자</a:t>
                      </a:r>
                      <a:r>
                        <a:rPr lang="en-US" altLang="ko-KR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관리감독자를 보좌하여 지도</a:t>
                      </a:r>
                      <a:r>
                        <a:rPr lang="en-US" altLang="ko-KR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조언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153911" y="9389115"/>
            <a:ext cx="6632149" cy="479580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i="1" dirty="0">
                <a:solidFill>
                  <a:srgbClr val="FF0000"/>
                </a:solidFill>
              </a:rPr>
              <a:t>소규모 사업장은 조직의 구성을 탄력적으로 적용하여 상기 역할을 수행할 수 있도록 조정바랍니다</a:t>
            </a:r>
            <a:r>
              <a:rPr lang="en-US" altLang="ko-KR" sz="1050" i="1" dirty="0">
                <a:solidFill>
                  <a:srgbClr val="FF0000"/>
                </a:solidFill>
              </a:rPr>
              <a:t>.</a:t>
            </a:r>
            <a:endParaRPr lang="ko-KR" altLang="en-US" sz="1050" i="1" dirty="0">
              <a:solidFill>
                <a:srgbClr val="FF0000"/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732729">
            <a:off x="1615283" y="4459181"/>
            <a:ext cx="3627434" cy="987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840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16"/>
          <p:cNvSpPr txBox="1">
            <a:spLocks/>
          </p:cNvSpPr>
          <p:nvPr/>
        </p:nvSpPr>
        <p:spPr>
          <a:xfrm>
            <a:off x="393701" y="516885"/>
            <a:ext cx="6272464" cy="7913070"/>
          </a:xfrm>
          <a:prstGeom prst="rect">
            <a:avLst/>
          </a:prstGeom>
        </p:spPr>
        <p:txBody>
          <a:bodyPr/>
          <a:lstStyle>
            <a:lvl1pPr marL="0" indent="-180000" algn="l" defTabSz="914228" rtl="0" eaLnBrk="1" latinLnBrk="1" hangingPunct="1">
              <a:lnSpc>
                <a:spcPct val="150000"/>
              </a:lnSpc>
              <a:spcBef>
                <a:spcPct val="20000"/>
              </a:spcBef>
              <a:buFont typeface="+mj-lt"/>
              <a:buAutoNum type="arabicPeriod"/>
              <a:defRPr lang="ko-KR" altLang="en-US" sz="1200" b="1" kern="1200" dirty="0" smtClean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96000" indent="-180000" algn="l" defTabSz="914341" rtl="0" eaLnBrk="1" latinLnBrk="1" hangingPunct="1">
              <a:lnSpc>
                <a:spcPts val="1500"/>
              </a:lnSpc>
              <a:spcBef>
                <a:spcPct val="20000"/>
              </a:spcBef>
              <a:buFont typeface="+mj-lt"/>
              <a:buAutoNum type="arabicParenR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12000" indent="-180000" algn="l" defTabSz="914341" rtl="0" eaLnBrk="1" latinLnBrk="1" hangingPunct="1">
              <a:lnSpc>
                <a:spcPts val="1250"/>
              </a:lnSpc>
              <a:spcBef>
                <a:spcPct val="20000"/>
              </a:spcBef>
              <a:buFont typeface="+mj-ea"/>
              <a:buAutoNum type="circleNumDbPlain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42" indent="0" algn="l" defTabSz="914341" rtl="0" eaLnBrk="1" latinLnBrk="1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68" indent="-228586" algn="l" defTabSz="914341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39" indent="-228586" algn="l" defTabSz="914341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10" indent="-228586" algn="l" defTabSz="914341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80" indent="-228586" algn="l" defTabSz="914341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51" indent="-228586" algn="l" defTabSz="914341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563" indent="-182563" defTabSz="1042988" fontAlgn="base">
              <a:spcAft>
                <a:spcPct val="0"/>
              </a:spcAft>
              <a:buNone/>
              <a:defRPr/>
            </a:pP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평가대상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근로자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협력사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방문객 포함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에게 안전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보건상 영향을 주는 다음 사항 등을 평가대상으로 한다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b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①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회사 내부 또는 외부에서 작업장에 제공되는 모든 위험시설</a:t>
            </a:r>
            <a:b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② 작업장에서 보유 또는 취급하고 있는 모든 유해물질</a:t>
            </a:r>
            <a:b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③ 일상적인 작업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협력사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포함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및 비 일상적인 작업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수리 또는 정비 등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b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④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발생할 수 있는 비상조치 작업</a:t>
            </a:r>
            <a:b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82563" indent="-182563" defTabSz="1042988" fontAlgn="base">
              <a:spcAft>
                <a:spcPct val="0"/>
              </a:spcAft>
              <a:buNone/>
              <a:defRPr/>
            </a:pP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실시시기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우리회사 위험성 평가 실시 시기는 다음과 같다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b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①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최초평가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처음으로 실시하는 위험성평가를 말하며 전체작업을 대상으로</a:t>
            </a:r>
            <a:b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실시하며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신규 사업장 인수 후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개월 이내 실시한다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b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②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정기평가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최초 평가 후 사업장 전반에 대해 매년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(1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회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정기적으로 실시한다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b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③ 수시평가 </a:t>
            </a:r>
            <a:r>
              <a:rPr lang="en-US" altLang="ko-KR" b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b="0">
                <a:latin typeface="맑은 고딕" panose="020B0503020000020004" pitchFamily="50" charset="-127"/>
                <a:ea typeface="맑은 고딕" panose="020B0503020000020004" pitchFamily="50" charset="-127"/>
              </a:rPr>
              <a:t>다음과 같은 상황 발생 시 실시한다</a:t>
            </a:r>
            <a:r>
              <a:rPr lang="en-US" altLang="ko-KR" b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182563" indent="-182563" defTabSz="1042988" fontAlgn="base">
              <a:spcAft>
                <a:spcPct val="0"/>
              </a:spcAft>
              <a:buNone/>
              <a:defRPr/>
            </a:pPr>
            <a:r>
              <a:rPr lang="en-US" altLang="ko-KR" b="0"/>
              <a:t>        (1) </a:t>
            </a:r>
            <a:r>
              <a:rPr lang="ko-KR" altLang="en-US" b="0"/>
              <a:t>사업장 건설물의 설치</a:t>
            </a:r>
            <a:r>
              <a:rPr lang="en-US" altLang="ko-KR" b="0"/>
              <a:t>·</a:t>
            </a:r>
            <a:r>
              <a:rPr lang="ko-KR" altLang="en-US" b="0"/>
              <a:t>이전</a:t>
            </a:r>
            <a:r>
              <a:rPr lang="en-US" altLang="ko-KR" b="0"/>
              <a:t>·</a:t>
            </a:r>
            <a:r>
              <a:rPr lang="ko-KR" altLang="en-US" b="0"/>
              <a:t>변경 또는 해체</a:t>
            </a:r>
          </a:p>
          <a:p>
            <a:pPr marL="182563" indent="-182563" defTabSz="1042988" fontAlgn="base">
              <a:spcAft>
                <a:spcPct val="0"/>
              </a:spcAft>
              <a:buNone/>
              <a:defRPr/>
            </a:pPr>
            <a:r>
              <a:rPr lang="en-US" altLang="ko-KR" b="0"/>
              <a:t>        (2) </a:t>
            </a:r>
            <a:r>
              <a:rPr lang="ko-KR" altLang="en-US" b="0"/>
              <a:t>기계</a:t>
            </a:r>
            <a:r>
              <a:rPr lang="en-US" altLang="ko-KR" b="0"/>
              <a:t>·</a:t>
            </a:r>
            <a:r>
              <a:rPr lang="ko-KR" altLang="en-US" b="0"/>
              <a:t>기구</a:t>
            </a:r>
            <a:r>
              <a:rPr lang="en-US" altLang="ko-KR" b="0"/>
              <a:t>, </a:t>
            </a:r>
            <a:r>
              <a:rPr lang="ko-KR" altLang="en-US" b="0"/>
              <a:t>설비</a:t>
            </a:r>
            <a:r>
              <a:rPr lang="en-US" altLang="ko-KR" b="0"/>
              <a:t>, </a:t>
            </a:r>
            <a:r>
              <a:rPr lang="ko-KR" altLang="en-US" b="0"/>
              <a:t>원재료 등의 신규 도입 또는 변경</a:t>
            </a:r>
          </a:p>
          <a:p>
            <a:pPr marL="182563" indent="-182563" defTabSz="1042988" fontAlgn="base">
              <a:spcAft>
                <a:spcPct val="0"/>
              </a:spcAft>
              <a:buNone/>
              <a:defRPr/>
            </a:pPr>
            <a:r>
              <a:rPr lang="en-US" altLang="ko-KR" b="0"/>
              <a:t>        (3) </a:t>
            </a:r>
            <a:r>
              <a:rPr lang="ko-KR" altLang="en-US" b="0"/>
              <a:t>건설물</a:t>
            </a:r>
            <a:r>
              <a:rPr lang="en-US" altLang="ko-KR" b="0"/>
              <a:t>, </a:t>
            </a:r>
            <a:r>
              <a:rPr lang="ko-KR" altLang="en-US" b="0"/>
              <a:t>기계</a:t>
            </a:r>
            <a:r>
              <a:rPr lang="en-US" altLang="ko-KR" b="0"/>
              <a:t>·</a:t>
            </a:r>
            <a:r>
              <a:rPr lang="ko-KR" altLang="en-US" b="0"/>
              <a:t>기구</a:t>
            </a:r>
            <a:r>
              <a:rPr lang="en-US" altLang="ko-KR" b="0"/>
              <a:t>, </a:t>
            </a:r>
            <a:r>
              <a:rPr lang="ko-KR" altLang="en-US" b="0"/>
              <a:t>설비 등의 정비 또는 보수</a:t>
            </a:r>
          </a:p>
          <a:p>
            <a:pPr marL="182563" indent="-182563" defTabSz="1042988" fontAlgn="base">
              <a:spcAft>
                <a:spcPct val="0"/>
              </a:spcAft>
              <a:buNone/>
              <a:defRPr/>
            </a:pPr>
            <a:r>
              <a:rPr lang="en-US" altLang="ko-KR" b="0"/>
              <a:t>            (</a:t>
            </a:r>
            <a:r>
              <a:rPr lang="ko-KR" altLang="en-US" b="0"/>
              <a:t>주기적</a:t>
            </a:r>
            <a:r>
              <a:rPr lang="en-US" altLang="ko-KR" b="0"/>
              <a:t>·</a:t>
            </a:r>
            <a:r>
              <a:rPr lang="ko-KR" altLang="en-US" b="0"/>
              <a:t>반복적 작업으로서 이미 위험성평가를 실시한 경우에는 제외</a:t>
            </a:r>
            <a:r>
              <a:rPr lang="en-US" altLang="ko-KR" b="0"/>
              <a:t>)</a:t>
            </a:r>
          </a:p>
          <a:p>
            <a:pPr marL="182563" indent="-182563" defTabSz="1042988" fontAlgn="base">
              <a:spcAft>
                <a:spcPct val="0"/>
              </a:spcAft>
              <a:buNone/>
              <a:defRPr/>
            </a:pPr>
            <a:r>
              <a:rPr lang="en-US" altLang="ko-KR" b="0"/>
              <a:t>        (4) </a:t>
            </a:r>
            <a:r>
              <a:rPr lang="ko-KR" altLang="en-US" b="0"/>
              <a:t>작업방법 또는 작업절차의 신규 도입 또는 변경</a:t>
            </a:r>
          </a:p>
          <a:p>
            <a:pPr marL="182563" indent="-182563" defTabSz="1042988" fontAlgn="base">
              <a:spcAft>
                <a:spcPct val="0"/>
              </a:spcAft>
              <a:buNone/>
              <a:defRPr/>
            </a:pPr>
            <a:r>
              <a:rPr lang="en-US" altLang="ko-KR" b="0"/>
              <a:t>        (5) </a:t>
            </a:r>
            <a:r>
              <a:rPr lang="ko-KR" altLang="en-US" b="0"/>
              <a:t>중대산업사고 또는 산업재해</a:t>
            </a:r>
            <a:r>
              <a:rPr lang="en-US" altLang="ko-KR" b="0"/>
              <a:t>(</a:t>
            </a:r>
            <a:r>
              <a:rPr lang="ko-KR" altLang="en-US" b="0"/>
              <a:t>휴업 이상의 요양을 요하는 경우에 한정한다</a:t>
            </a:r>
            <a:r>
              <a:rPr lang="en-US" altLang="ko-KR" b="0"/>
              <a:t>) </a:t>
            </a:r>
            <a:r>
              <a:rPr lang="ko-KR" altLang="en-US" b="0"/>
              <a:t>발생</a:t>
            </a:r>
          </a:p>
          <a:p>
            <a:pPr marL="182563" indent="-182563" defTabSz="1042988" fontAlgn="base">
              <a:spcAft>
                <a:spcPct val="0"/>
              </a:spcAft>
              <a:buNone/>
              <a:defRPr/>
            </a:pPr>
            <a:r>
              <a:rPr lang="en-US" altLang="ko-KR" b="0"/>
              <a:t>        (6) </a:t>
            </a:r>
            <a:r>
              <a:rPr lang="ko-KR" altLang="en-US" b="0"/>
              <a:t>사전작업허가서</a:t>
            </a:r>
            <a:r>
              <a:rPr lang="en-US" altLang="ko-KR" b="0"/>
              <a:t>(PTW) </a:t>
            </a:r>
            <a:r>
              <a:rPr lang="ko-KR" altLang="en-US" b="0"/>
              <a:t>발행 대상 작업 진행 시</a:t>
            </a:r>
            <a:r>
              <a:rPr lang="en-US" altLang="ko-KR" b="0"/>
              <a:t>, </a:t>
            </a:r>
            <a:r>
              <a:rPr lang="ko-KR" altLang="en-US" b="0"/>
              <a:t> </a:t>
            </a:r>
          </a:p>
          <a:p>
            <a:pPr marL="182563" indent="-182563" defTabSz="1042988" fontAlgn="base">
              <a:spcAft>
                <a:spcPct val="0"/>
              </a:spcAft>
              <a:buNone/>
              <a:defRPr/>
            </a:pPr>
            <a:r>
              <a:rPr lang="ko-KR" altLang="en-US" b="0"/>
              <a:t>            이 경우 </a:t>
            </a:r>
            <a:r>
              <a:rPr lang="en-US" altLang="ko-KR" b="0"/>
              <a:t>PTW </a:t>
            </a:r>
            <a:r>
              <a:rPr lang="ko-KR" altLang="en-US" b="0"/>
              <a:t>발행 시 작성된 위험성평가를 수시위험성평가로 봄</a:t>
            </a:r>
          </a:p>
          <a:p>
            <a:pPr marL="182563" indent="-182563" defTabSz="1042988" fontAlgn="base">
              <a:spcAft>
                <a:spcPct val="0"/>
              </a:spcAft>
              <a:buNone/>
              <a:defRPr/>
            </a:pPr>
            <a:r>
              <a:rPr lang="en-US" altLang="ko-KR" b="0"/>
              <a:t>        (7) </a:t>
            </a:r>
            <a:r>
              <a:rPr lang="ko-KR" altLang="en-US" b="0"/>
              <a:t>그 밖에 회사 또는 사업본부</a:t>
            </a:r>
            <a:r>
              <a:rPr lang="en-US" altLang="ko-KR" b="0"/>
              <a:t>, </a:t>
            </a:r>
            <a:r>
              <a:rPr lang="ko-KR" altLang="en-US" b="0"/>
              <a:t>관련자의 요청에 따라 필요하다고 판단한 경우</a:t>
            </a:r>
            <a:endParaRPr lang="en-US" altLang="ko-KR" b="0"/>
          </a:p>
          <a:p>
            <a:pPr marL="182563" indent="-182563" defTabSz="1042988" fontAlgn="base">
              <a:spcAft>
                <a:spcPct val="0"/>
              </a:spcAft>
              <a:buNone/>
              <a:defRPr/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82563" indent="-182563" defTabSz="1042988" fontAlgn="base">
              <a:spcAft>
                <a:spcPct val="0"/>
              </a:spcAft>
              <a:buNone/>
              <a:defRPr/>
            </a:pP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실시방법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위험성 평가 실시 방법은 다음과 같다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b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①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사업주가 위험성평가 실시를 총괄 관리한다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b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②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위험성평가 전담직원을 지정하는 등 위험성평가를 위한 체제를 구축한다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b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③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작업내용 등을 상세하게 파악하고 있는 관리감독자에게 유해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위험 요인의</a:t>
            </a:r>
            <a:b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파악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위험성의 추정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결정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위험성 감소대책의 수립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실행을 하게 된다</a:t>
            </a:r>
            <a:b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④ 유해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위험 요인을 파악하거나 감소대책을 수립하는 경우 특별한 사정이 </a:t>
            </a:r>
            <a:b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없는 한 해당 작업에 종사하고 있는 근로자를 참여하게 한다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b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⑤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기계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기구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설비 등과 관련된 위험성평가에는 해당 기계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기구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설비 등에</a:t>
            </a:r>
            <a:b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전문 지식을 </a:t>
            </a:r>
            <a:r>
              <a:rPr lang="ko-KR" altLang="en-US" b="0">
                <a:latin typeface="맑은 고딕" panose="020B0503020000020004" pitchFamily="50" charset="-127"/>
                <a:ea typeface="맑은 고딕" panose="020B0503020000020004" pitchFamily="50" charset="-127"/>
              </a:rPr>
              <a:t>갖춘 근로자를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참여하게 한다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b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⑥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위험성평가를 실시하기 위한 필요한 회의 및 교육 등을 실시한다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732729">
            <a:off x="1615283" y="4459181"/>
            <a:ext cx="3627434" cy="987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550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16"/>
          <p:cNvSpPr txBox="1">
            <a:spLocks/>
          </p:cNvSpPr>
          <p:nvPr/>
        </p:nvSpPr>
        <p:spPr>
          <a:xfrm>
            <a:off x="393701" y="516885"/>
            <a:ext cx="6070598" cy="8752336"/>
          </a:xfrm>
          <a:prstGeom prst="rect">
            <a:avLst/>
          </a:prstGeom>
        </p:spPr>
        <p:txBody>
          <a:bodyPr/>
          <a:lstStyle>
            <a:lvl1pPr marL="0" indent="-180000" algn="l" defTabSz="914228" rtl="0" eaLnBrk="1" latinLnBrk="1" hangingPunct="1">
              <a:lnSpc>
                <a:spcPct val="150000"/>
              </a:lnSpc>
              <a:spcBef>
                <a:spcPct val="20000"/>
              </a:spcBef>
              <a:buFont typeface="+mj-lt"/>
              <a:buAutoNum type="arabicPeriod"/>
              <a:defRPr lang="ko-KR" altLang="en-US" sz="1200" b="1" kern="1200" dirty="0" smtClean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96000" indent="-180000" algn="l" defTabSz="914341" rtl="0" eaLnBrk="1" latinLnBrk="1" hangingPunct="1">
              <a:lnSpc>
                <a:spcPts val="1500"/>
              </a:lnSpc>
              <a:spcBef>
                <a:spcPct val="20000"/>
              </a:spcBef>
              <a:buFont typeface="+mj-lt"/>
              <a:buAutoNum type="arabicParenR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12000" indent="-180000" algn="l" defTabSz="914341" rtl="0" eaLnBrk="1" latinLnBrk="1" hangingPunct="1">
              <a:lnSpc>
                <a:spcPts val="1250"/>
              </a:lnSpc>
              <a:spcBef>
                <a:spcPct val="20000"/>
              </a:spcBef>
              <a:buFont typeface="+mj-ea"/>
              <a:buAutoNum type="circleNumDbPlain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42" indent="0" algn="l" defTabSz="914341" rtl="0" eaLnBrk="1" latinLnBrk="1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68" indent="-228586" algn="l" defTabSz="914341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39" indent="-228586" algn="l" defTabSz="914341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10" indent="-228586" algn="l" defTabSz="914341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80" indent="-228586" algn="l" defTabSz="914341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51" indent="-228586" algn="l" defTabSz="914341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42925" indent="-542925" defTabSz="1042988" fontAlgn="base">
              <a:spcAft>
                <a:spcPct val="0"/>
              </a:spcAft>
              <a:buNone/>
              <a:defRPr/>
            </a:pP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추진절차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위험성 평가 절차는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그림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1.&gt;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과 같이 한다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542925" indent="-542925" defTabSz="1042988" fontAlgn="base">
              <a:spcAft>
                <a:spcPct val="0"/>
              </a:spcAft>
              <a:buNone/>
              <a:defRPr/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42925" indent="-542925" defTabSz="1042988" fontAlgn="base">
              <a:spcAft>
                <a:spcPct val="0"/>
              </a:spcAft>
              <a:buNone/>
              <a:defRPr/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42925" indent="-542925" defTabSz="1042988" fontAlgn="base">
              <a:spcAft>
                <a:spcPct val="0"/>
              </a:spcAft>
              <a:buNone/>
              <a:defRPr/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42925" indent="-542925" defTabSz="1042988" fontAlgn="base">
              <a:spcAft>
                <a:spcPct val="0"/>
              </a:spcAft>
              <a:buNone/>
              <a:defRPr/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42925" indent="-542925" defTabSz="1042988" fontAlgn="base">
              <a:spcAft>
                <a:spcPct val="0"/>
              </a:spcAft>
              <a:buNone/>
              <a:defRPr/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42925" indent="-542925" defTabSz="1042988" fontAlgn="base">
              <a:spcAft>
                <a:spcPct val="0"/>
              </a:spcAft>
              <a:buNone/>
              <a:defRPr/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42925" indent="-542925" defTabSz="1042988" fontAlgn="base">
              <a:spcAft>
                <a:spcPct val="0"/>
              </a:spcAft>
              <a:buNone/>
              <a:defRPr/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42925" indent="-542925" defTabSz="1042988" fontAlgn="base">
              <a:spcAft>
                <a:spcPct val="0"/>
              </a:spcAft>
              <a:buNone/>
              <a:defRPr/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42925" indent="-542925" defTabSz="1042988" fontAlgn="base">
              <a:spcAft>
                <a:spcPct val="0"/>
              </a:spcAft>
              <a:buNone/>
              <a:defRPr/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42925" indent="-542925" defTabSz="1042988" fontAlgn="base">
              <a:spcAft>
                <a:spcPct val="0"/>
              </a:spcAft>
              <a:buNone/>
              <a:defRPr/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42925" indent="-542925" defTabSz="1042988" fontAlgn="base">
              <a:spcAft>
                <a:spcPct val="0"/>
              </a:spcAft>
              <a:buNone/>
              <a:defRPr/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42925" indent="-542925" defTabSz="1042988" fontAlgn="base">
              <a:spcAft>
                <a:spcPct val="0"/>
              </a:spcAft>
              <a:buNone/>
              <a:defRPr/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42925" indent="-542925" defTabSz="1042988" fontAlgn="base">
              <a:spcAft>
                <a:spcPct val="0"/>
              </a:spcAft>
              <a:buNone/>
              <a:defRPr/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42925" indent="-542925" defTabSz="1042988" fontAlgn="base">
              <a:spcAft>
                <a:spcPct val="0"/>
              </a:spcAft>
              <a:buNone/>
              <a:defRPr/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42925" indent="-542925" defTabSz="1042988" fontAlgn="base">
              <a:spcAft>
                <a:spcPct val="0"/>
              </a:spcAft>
              <a:buNone/>
              <a:defRPr/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42925" indent="-542925" defTabSz="1042988" fontAlgn="base">
              <a:spcAft>
                <a:spcPct val="0"/>
              </a:spcAft>
              <a:buNone/>
              <a:defRPr/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42925" indent="-542925" defTabSz="1042988" fontAlgn="base">
              <a:spcAft>
                <a:spcPct val="0"/>
              </a:spcAft>
              <a:buNone/>
              <a:defRPr/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42925" indent="-542925" defTabSz="1042988" fontAlgn="base">
              <a:spcAft>
                <a:spcPct val="0"/>
              </a:spcAft>
              <a:buNone/>
              <a:defRPr/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42925" indent="-542925" defTabSz="1042988" fontAlgn="base">
              <a:spcAft>
                <a:spcPct val="0"/>
              </a:spcAft>
              <a:buNone/>
              <a:defRPr/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42925" indent="-542925" defTabSz="1042988" fontAlgn="base">
              <a:spcAft>
                <a:spcPct val="0"/>
              </a:spcAft>
              <a:buNone/>
              <a:defRPr/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42925" indent="-542925" defTabSz="1042988" fontAlgn="base">
              <a:spcAft>
                <a:spcPct val="0"/>
              </a:spcAft>
              <a:buNone/>
              <a:defRPr/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42925" indent="-542925" defTabSz="1042988" fontAlgn="base">
              <a:spcAft>
                <a:spcPct val="0"/>
              </a:spcAft>
              <a:buNone/>
              <a:defRPr/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42925" indent="-542925" algn="ctr" defTabSz="1042988" fontAlgn="base">
              <a:spcAft>
                <a:spcPct val="0"/>
              </a:spcAft>
              <a:buNone/>
              <a:defRPr/>
            </a:pP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그림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위험성평가 일반 절차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</a:p>
          <a:p>
            <a:pPr marL="182563" indent="0" defTabSz="1042988" fontAlgn="base">
              <a:spcAft>
                <a:spcPct val="0"/>
              </a:spcAft>
              <a:buNone/>
              <a:defRPr/>
            </a:pPr>
            <a:b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위험성 평가는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[1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단계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사전준비 →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[2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단계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유해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위험요인 파악 →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[3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단계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위험성 추정 →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[4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단계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위험성 결정 →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[5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단계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위험성 감소대책 수립 및 실행의 절차에 따라 실시한다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endParaRPr lang="ko-KR" altLang="en-US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921" y="996465"/>
            <a:ext cx="6011378" cy="671412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732729">
            <a:off x="1615283" y="4459181"/>
            <a:ext cx="3627434" cy="987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649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91310" y="4233630"/>
            <a:ext cx="5395275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 cmpd="dbl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200" b="1" dirty="0"/>
              <a:t>위험성</a:t>
            </a:r>
            <a:r>
              <a:rPr lang="en-US" altLang="ko-KR" sz="1200" b="1" dirty="0"/>
              <a:t>(Risk) = </a:t>
            </a:r>
            <a:r>
              <a:rPr lang="ko-KR" altLang="en-US" sz="1200" b="1" dirty="0"/>
              <a:t>사고발생의 가능성 </a:t>
            </a:r>
            <a:r>
              <a:rPr lang="en-US" altLang="ko-KR" sz="1200" b="1" dirty="0"/>
              <a:t>X </a:t>
            </a:r>
            <a:r>
              <a:rPr lang="ko-KR" altLang="en-US" sz="1200" b="1" dirty="0"/>
              <a:t>사고결과의 중대성</a:t>
            </a:r>
          </a:p>
        </p:txBody>
      </p:sp>
      <p:sp>
        <p:nvSpPr>
          <p:cNvPr id="7" name="텍스트 개체 틀 16"/>
          <p:cNvSpPr txBox="1">
            <a:spLocks/>
          </p:cNvSpPr>
          <p:nvPr/>
        </p:nvSpPr>
        <p:spPr>
          <a:xfrm>
            <a:off x="393701" y="396990"/>
            <a:ext cx="6070598" cy="8872231"/>
          </a:xfrm>
          <a:prstGeom prst="rect">
            <a:avLst/>
          </a:prstGeom>
        </p:spPr>
        <p:txBody>
          <a:bodyPr/>
          <a:lstStyle>
            <a:lvl1pPr marL="0" indent="-180000" algn="l" defTabSz="914228" rtl="0" eaLnBrk="1" latinLnBrk="1" hangingPunct="1">
              <a:lnSpc>
                <a:spcPct val="150000"/>
              </a:lnSpc>
              <a:spcBef>
                <a:spcPct val="20000"/>
              </a:spcBef>
              <a:buFont typeface="+mj-lt"/>
              <a:buAutoNum type="arabicPeriod"/>
              <a:defRPr lang="ko-KR" altLang="en-US" sz="1200" b="1" kern="1200" dirty="0" smtClean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96000" indent="-180000" algn="l" defTabSz="914341" rtl="0" eaLnBrk="1" latinLnBrk="1" hangingPunct="1">
              <a:lnSpc>
                <a:spcPts val="1500"/>
              </a:lnSpc>
              <a:spcBef>
                <a:spcPct val="20000"/>
              </a:spcBef>
              <a:buFont typeface="+mj-lt"/>
              <a:buAutoNum type="arabicParenR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12000" indent="-180000" algn="l" defTabSz="914341" rtl="0" eaLnBrk="1" latinLnBrk="1" hangingPunct="1">
              <a:lnSpc>
                <a:spcPts val="1250"/>
              </a:lnSpc>
              <a:spcBef>
                <a:spcPct val="20000"/>
              </a:spcBef>
              <a:buFont typeface="+mj-ea"/>
              <a:buAutoNum type="circleNumDbPlain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42" indent="0" algn="l" defTabSz="914341" rtl="0" eaLnBrk="1" latinLnBrk="1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68" indent="-228586" algn="l" defTabSz="914341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39" indent="-228586" algn="l" defTabSz="914341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10" indent="-228586" algn="l" defTabSz="914341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80" indent="-228586" algn="l" defTabSz="914341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51" indent="-228586" algn="l" defTabSz="914341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563" indent="0" defTabSz="1042988" fontAlgn="base" latinLnBrk="0">
              <a:spcAft>
                <a:spcPct val="0"/>
              </a:spcAft>
              <a:buNone/>
              <a:defRPr/>
            </a:pP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①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단계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사전준비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평가대상 작업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공정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선정 및 안전보건정보 조사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b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☞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정확한 작업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공정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분류가 중요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작업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공정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흐름도에 따라 </a:t>
            </a:r>
            <a:b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평가대상 작업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공정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 결정되면 평가대상 및 범위를 확정</a:t>
            </a:r>
            <a:b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☞ 위험성 평가 담당자는 위험성평가에 필요한 정보를 수집하여 정리</a:t>
            </a:r>
          </a:p>
          <a:p>
            <a:pPr marL="182563" indent="0" defTabSz="1042988" fontAlgn="base" latinLnBrk="0">
              <a:spcAft>
                <a:spcPct val="0"/>
              </a:spcAft>
              <a:buNone/>
              <a:defRPr/>
            </a:pP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②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단계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유해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위험요인 파악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도출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623888" indent="-441325" defTabSz="1042988" fontAlgn="base" latinLnBrk="0">
              <a:spcAft>
                <a:spcPct val="0"/>
              </a:spcAft>
              <a:buNone/>
              <a:defRPr/>
            </a:pP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en-US" altLang="ko-KR" b="0">
                <a:latin typeface="맑은 고딕" panose="020B0503020000020004" pitchFamily="50" charset="-127"/>
                <a:ea typeface="맑은 고딕" panose="020B0503020000020004" pitchFamily="50" charset="-127"/>
              </a:rPr>
              <a:t>☞ </a:t>
            </a:r>
            <a:r>
              <a:rPr lang="ko-KR" altLang="en-US" b="0"/>
              <a:t>유해</a:t>
            </a:r>
            <a:r>
              <a:rPr lang="en-US" altLang="ko-KR" b="0"/>
              <a:t>·</a:t>
            </a:r>
            <a:r>
              <a:rPr lang="ko-KR" altLang="en-US" b="0"/>
              <a:t>위험요인을 파악하는 때에는 다음의 방법으로 한다</a:t>
            </a:r>
            <a:r>
              <a:rPr lang="en-US" altLang="ko-KR" b="0"/>
              <a:t>. </a:t>
            </a:r>
            <a:r>
              <a:rPr lang="ko-KR" altLang="en-US" b="0"/>
              <a:t>이 경우 해당 작업에 종사하는 근로자</a:t>
            </a:r>
            <a:r>
              <a:rPr lang="en-US" altLang="ko-KR" b="0"/>
              <a:t>(</a:t>
            </a:r>
            <a:r>
              <a:rPr lang="ko-KR" altLang="en-US" b="0"/>
              <a:t>공종별 </a:t>
            </a:r>
            <a:r>
              <a:rPr lang="en-US" altLang="ko-KR" b="0"/>
              <a:t>1</a:t>
            </a:r>
            <a:r>
              <a:rPr lang="ko-KR" altLang="en-US" b="0"/>
              <a:t>인 이상</a:t>
            </a:r>
            <a:r>
              <a:rPr lang="en-US" altLang="ko-KR" b="0"/>
              <a:t>)</a:t>
            </a:r>
            <a:r>
              <a:rPr lang="ko-KR" altLang="en-US" b="0"/>
              <a:t>를 참여시켜야 한다</a:t>
            </a:r>
            <a:br>
              <a:rPr lang="en-US" altLang="ko-KR" b="0"/>
            </a:br>
            <a:r>
              <a:rPr lang="en-US" altLang="ko-KR" b="0"/>
              <a:t>1) </a:t>
            </a:r>
            <a:r>
              <a:rPr lang="ko-KR" altLang="en-US" b="0"/>
              <a:t>사업장순회점검에 의한 방법</a:t>
            </a:r>
            <a:br>
              <a:rPr lang="en-US" altLang="ko-KR" b="0"/>
            </a:br>
            <a:r>
              <a:rPr lang="en-US" altLang="ko-KR" b="0"/>
              <a:t>2) </a:t>
            </a:r>
            <a:r>
              <a:rPr lang="ko-KR" altLang="en-US" b="0"/>
              <a:t>직원 안전보건 청취</a:t>
            </a:r>
            <a:r>
              <a:rPr lang="en-US" altLang="ko-KR" b="0"/>
              <a:t>(</a:t>
            </a:r>
            <a:r>
              <a:rPr lang="ko-KR" altLang="en-US" b="0"/>
              <a:t>면담</a:t>
            </a:r>
            <a:r>
              <a:rPr lang="en-US" altLang="ko-KR" b="0"/>
              <a:t>)</a:t>
            </a:r>
            <a:r>
              <a:rPr lang="ko-KR" altLang="en-US" b="0"/>
              <a:t>에 의한 방법</a:t>
            </a:r>
            <a:br>
              <a:rPr lang="en-US" altLang="ko-KR" b="0"/>
            </a:br>
            <a:r>
              <a:rPr lang="en-US" altLang="ko-KR" b="0"/>
              <a:t>3) </a:t>
            </a:r>
            <a:r>
              <a:rPr lang="ko-KR" altLang="en-US" b="0"/>
              <a:t>아차사고사례에 의한 방법</a:t>
            </a:r>
            <a:br>
              <a:rPr lang="en-US" altLang="ko-KR" b="0"/>
            </a:br>
            <a:r>
              <a:rPr lang="en-US" altLang="ko-KR" b="0"/>
              <a:t>※</a:t>
            </a:r>
            <a:r>
              <a:rPr lang="ko-KR" altLang="en-US" b="0"/>
              <a:t> 이 방법 중 </a:t>
            </a:r>
            <a:r>
              <a:rPr lang="en-US" altLang="ko-KR" b="0"/>
              <a:t>1)</a:t>
            </a:r>
            <a:r>
              <a:rPr lang="ko-KR" altLang="en-US" b="0"/>
              <a:t> 또는 </a:t>
            </a:r>
            <a:r>
              <a:rPr lang="en-US" altLang="ko-KR" b="0"/>
              <a:t>2) </a:t>
            </a:r>
            <a:r>
              <a:rPr lang="ko-KR" altLang="en-US" b="0"/>
              <a:t>중 한 가지 이상은 필수로 실시</a:t>
            </a:r>
            <a:endParaRPr lang="en-US" altLang="ko-KR" b="0"/>
          </a:p>
          <a:p>
            <a:pPr marL="623888" indent="-441325" defTabSz="1042988" fontAlgn="base" latinLnBrk="0">
              <a:spcAft>
                <a:spcPct val="0"/>
              </a:spcAft>
              <a:buNone/>
              <a:defRPr/>
            </a:pPr>
            <a:r>
              <a:rPr lang="ko-KR" altLang="en-US" b="0"/>
              <a:t>③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단계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위험성 추정</a:t>
            </a:r>
          </a:p>
          <a:p>
            <a:pPr marL="182563" indent="0" defTabSz="1042988" fontAlgn="base" latinLnBrk="0">
              <a:spcAft>
                <a:spcPct val="0"/>
              </a:spcAft>
              <a:buNone/>
              <a:defRPr/>
            </a:pP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☞ 유해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위험요인을 심사하여 정량화하는 단계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가능성과 </a:t>
            </a:r>
            <a:r>
              <a:rPr lang="ko-KR" altLang="en-US" b="0">
                <a:latin typeface="맑은 고딕" panose="020B0503020000020004" pitchFamily="50" charset="-127"/>
                <a:ea typeface="맑은 고딕" panose="020B0503020000020004" pitchFamily="50" charset="-127"/>
              </a:rPr>
              <a:t>중대성을 조합</a:t>
            </a:r>
            <a:endParaRPr lang="en-US" altLang="ko-KR" b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82563" indent="0" defTabSz="1042988" fontAlgn="base" latinLnBrk="0">
              <a:spcAft>
                <a:spcPct val="0"/>
              </a:spcAft>
              <a:buNone/>
              <a:defRPr/>
            </a:pPr>
            <a:endParaRPr lang="en-US" altLang="ko-KR" b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42925" indent="-542925" algn="ctr" defTabSz="1042988" fontAlgn="base" latinLnBrk="0">
              <a:spcAft>
                <a:spcPct val="0"/>
              </a:spcAft>
              <a:buNone/>
              <a:defRPr/>
            </a:pPr>
            <a:r>
              <a:rPr lang="en-US" altLang="ko-KR" b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b="0">
                <a:latin typeface="맑은 고딕" panose="020B0503020000020004" pitchFamily="50" charset="-127"/>
                <a:ea typeface="맑은 고딕" panose="020B0503020000020004" pitchFamily="50" charset="-127"/>
              </a:rPr>
              <a:t>표 </a:t>
            </a:r>
            <a:r>
              <a:rPr lang="en-US" altLang="ko-KR" b="0"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b="0">
                <a:latin typeface="맑은 고딕" panose="020B0503020000020004" pitchFamily="50" charset="-127"/>
                <a:ea typeface="맑은 고딕" panose="020B0503020000020004" pitchFamily="50" charset="-127"/>
              </a:rPr>
              <a:t>가능성</a:t>
            </a:r>
            <a:r>
              <a:rPr lang="en-US" altLang="ko-KR" b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b="0">
                <a:latin typeface="맑은 고딕" panose="020B0503020000020004" pitchFamily="50" charset="-127"/>
                <a:ea typeface="맑은 고딕" panose="020B0503020000020004" pitchFamily="50" charset="-127"/>
              </a:rPr>
              <a:t>빈도</a:t>
            </a:r>
            <a:r>
              <a:rPr lang="en-US" altLang="ko-KR" b="0">
                <a:latin typeface="맑은 고딕" panose="020B0503020000020004" pitchFamily="50" charset="-127"/>
                <a:ea typeface="맑은 고딕" panose="020B0503020000020004" pitchFamily="50" charset="-127"/>
              </a:rPr>
              <a:t>)&gt;</a:t>
            </a:r>
          </a:p>
          <a:p>
            <a:pPr marL="542925" indent="-542925" algn="ctr" defTabSz="1042988" fontAlgn="base" latinLnBrk="0">
              <a:spcAft>
                <a:spcPct val="0"/>
              </a:spcAft>
              <a:buNone/>
              <a:defRPr/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42925" indent="-542925" defTabSz="1042988" fontAlgn="base" latinLnBrk="0">
              <a:spcAft>
                <a:spcPct val="0"/>
              </a:spcAft>
              <a:buNone/>
              <a:defRPr/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42925" indent="-542925" defTabSz="1042988" fontAlgn="base" latinLnBrk="0">
              <a:spcAft>
                <a:spcPct val="0"/>
              </a:spcAft>
              <a:buNone/>
              <a:defRPr/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42925" indent="-542925" defTabSz="1042988" fontAlgn="base" latinLnBrk="0">
              <a:spcAft>
                <a:spcPct val="0"/>
              </a:spcAft>
              <a:buNone/>
              <a:defRPr/>
            </a:pPr>
            <a:endParaRPr lang="en-US" altLang="ko-KR" b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42925" indent="-542925" defTabSz="1042988" fontAlgn="base" latinLnBrk="0">
              <a:spcAft>
                <a:spcPct val="0"/>
              </a:spcAft>
              <a:buNone/>
              <a:defRPr/>
            </a:pPr>
            <a:endParaRPr lang="en-US" altLang="ko-KR" sz="1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42925" indent="-542925" defTabSz="1042988" fontAlgn="base" latinLnBrk="0">
              <a:spcAft>
                <a:spcPct val="0"/>
              </a:spcAft>
              <a:buNone/>
              <a:defRPr/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42925" indent="-542925" defTabSz="1042988" fontAlgn="base" latinLnBrk="0">
              <a:spcAft>
                <a:spcPct val="0"/>
              </a:spcAft>
              <a:buNone/>
              <a:defRPr/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42925" indent="-542925" defTabSz="1042988" fontAlgn="base" latinLnBrk="0">
              <a:spcAft>
                <a:spcPct val="0"/>
              </a:spcAft>
              <a:buNone/>
              <a:defRPr/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42925" indent="-542925" algn="ctr" defTabSz="1042988" fontAlgn="base" latinLnBrk="0">
              <a:spcAft>
                <a:spcPct val="0"/>
              </a:spcAft>
              <a:buNone/>
              <a:defRPr/>
            </a:pP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중대성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강도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)&gt;</a:t>
            </a:r>
          </a:p>
          <a:p>
            <a:pPr marL="542925" indent="-542925" defTabSz="1042988" fontAlgn="base" latinLnBrk="0">
              <a:spcAft>
                <a:spcPct val="0"/>
              </a:spcAft>
              <a:buNone/>
              <a:defRPr/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42925" indent="-542925" defTabSz="1042988" fontAlgn="base" latinLnBrk="0">
              <a:spcAft>
                <a:spcPct val="0"/>
              </a:spcAft>
              <a:buNone/>
              <a:defRPr/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42925" indent="-542925" defTabSz="1042988" fontAlgn="base" latinLnBrk="0">
              <a:spcAft>
                <a:spcPct val="0"/>
              </a:spcAft>
              <a:buNone/>
              <a:defRPr/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42925" indent="-542925" defTabSz="1042988" fontAlgn="base" latinLnBrk="0">
              <a:spcAft>
                <a:spcPct val="0"/>
              </a:spcAft>
              <a:buNone/>
              <a:defRPr/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42925" indent="-542925" defTabSz="1042988" fontAlgn="base" latinLnBrk="0">
              <a:spcAft>
                <a:spcPct val="0"/>
              </a:spcAft>
              <a:buNone/>
              <a:defRPr/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42925" indent="-542925" defTabSz="1042988" fontAlgn="base" latinLnBrk="0">
              <a:spcAft>
                <a:spcPct val="0"/>
              </a:spcAft>
              <a:buNone/>
              <a:defRPr/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42925" indent="-542925" defTabSz="1042988" fontAlgn="base" latinLnBrk="0">
              <a:spcAft>
                <a:spcPct val="0"/>
              </a:spcAft>
              <a:buNone/>
              <a:defRPr/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42925" indent="-542925" defTabSz="1042988" fontAlgn="base" latinLnBrk="0">
              <a:spcAft>
                <a:spcPct val="0"/>
              </a:spcAft>
              <a:buNone/>
              <a:defRPr/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6202722"/>
              </p:ext>
            </p:extLst>
          </p:nvPr>
        </p:nvGraphicFramePr>
        <p:xfrm>
          <a:off x="551520" y="4804603"/>
          <a:ext cx="5874855" cy="218661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64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86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575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1271">
                <a:tc gridSpan="2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200" kern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등급</a:t>
                      </a:r>
                      <a:endParaRPr lang="ko-KR" sz="1200" kern="10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200" kern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등급 판정 기준</a:t>
                      </a:r>
                      <a:endParaRPr lang="ko-KR" sz="1200" kern="10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111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ko-KR" sz="1200" b="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200" ker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/>
                        </a:rPr>
                        <a:t>매우낮음</a:t>
                      </a:r>
                      <a:endParaRPr lang="ko-KR" sz="12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2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발생 </a:t>
                      </a:r>
                      <a:r>
                        <a:rPr lang="ko-KR" sz="1200" ker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가능성 </a:t>
                      </a:r>
                      <a:r>
                        <a:rPr lang="ko-KR" altLang="en-US" sz="1200" ker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매우낮음</a:t>
                      </a:r>
                      <a:endParaRPr lang="ko-KR" sz="120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marL="127000" indent="-127000" algn="l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2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/>
                        </a:rPr>
                        <a:t>* 참고</a:t>
                      </a:r>
                    </a:p>
                    <a:p>
                      <a:pPr marL="127000" indent="-127000" algn="l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2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/>
                        </a:rPr>
                        <a:t>1. </a:t>
                      </a:r>
                      <a:r>
                        <a:rPr lang="ko-KR" altLang="en-US" sz="12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/>
                        </a:rPr>
                        <a:t>당 사업장 발생 재해는</a:t>
                      </a:r>
                      <a:r>
                        <a:rPr lang="en-US" altLang="ko-KR" sz="12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/>
                        </a:rPr>
                        <a:t>4</a:t>
                      </a:r>
                      <a:r>
                        <a:rPr lang="ko-KR" altLang="en-US" sz="12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/>
                        </a:rPr>
                        <a:t>등급 이상으로 구분</a:t>
                      </a:r>
                    </a:p>
                    <a:p>
                      <a:pPr marL="127000" indent="-127000" algn="l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2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/>
                        </a:rPr>
                        <a:t>2. </a:t>
                      </a:r>
                      <a:r>
                        <a:rPr lang="ko-KR" altLang="en-US" sz="12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/>
                        </a:rPr>
                        <a:t>사업본부 내 타 사업장 발생 재해 고려하여 판단</a:t>
                      </a:r>
                    </a:p>
                    <a:p>
                      <a:pPr marL="127000" indent="-127000" algn="l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2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/>
                        </a:rPr>
                        <a:t>(</a:t>
                      </a:r>
                      <a:r>
                        <a:rPr lang="ko-KR" altLang="en-US" sz="12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/>
                        </a:rPr>
                        <a:t>사례집 참조</a:t>
                      </a:r>
                      <a:r>
                        <a:rPr lang="en-US" altLang="ko-KR" sz="1200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/>
                        </a:rPr>
                        <a:t>)</a:t>
                      </a: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85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sz="1200" b="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200" ker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낮음</a:t>
                      </a:r>
                      <a:endParaRPr lang="ko-KR" sz="12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2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발생할 가능성이 없으나 잠재되어 있음</a:t>
                      </a:r>
                      <a:endParaRPr lang="ko-KR" sz="120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127000" indent="-127000" algn="l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20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111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sz="1200" b="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2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보통</a:t>
                      </a:r>
                      <a:endParaRPr lang="ko-KR" sz="120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200" ker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발생 가능성 있음</a:t>
                      </a:r>
                      <a:endParaRPr lang="ko-KR" sz="12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127000" indent="-127000" algn="l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20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111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ko-KR" sz="1200" b="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2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높음</a:t>
                      </a:r>
                      <a:endParaRPr lang="ko-KR" sz="120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200" ker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발생 가능성이 높음</a:t>
                      </a:r>
                      <a:endParaRPr lang="ko-KR" sz="12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127000" indent="-127000" algn="l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20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923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ko-KR" sz="1200" b="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200" kern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매우높음</a:t>
                      </a:r>
                      <a:endParaRPr lang="ko-KR" sz="120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2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발생 가능성이 </a:t>
                      </a:r>
                      <a:r>
                        <a:rPr lang="ko-KR" sz="1200" kern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매우높음</a:t>
                      </a:r>
                      <a:endParaRPr lang="ko-KR" sz="120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127000" indent="-127000" algn="l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20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7612254"/>
              </p:ext>
            </p:extLst>
          </p:nvPr>
        </p:nvGraphicFramePr>
        <p:xfrm>
          <a:off x="551520" y="7296494"/>
          <a:ext cx="5912779" cy="233241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726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3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62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251">
                <a:tc gridSpan="2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200" b="1" kern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등급</a:t>
                      </a:r>
                      <a:endParaRPr lang="ko-KR" sz="1200" b="1" kern="10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200" b="1" kern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등급 판정 기준</a:t>
                      </a:r>
                      <a:endParaRPr lang="ko-KR" sz="1200" b="1" kern="10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702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ko-KR" sz="1200" b="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200" b="0" ker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경미</a:t>
                      </a:r>
                      <a:endParaRPr lang="ko-KR" sz="1200" b="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200" b="0" ker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경미한 재해를 포함한 불휴업 재</a:t>
                      </a:r>
                      <a:r>
                        <a:rPr lang="ko-KR" altLang="en-US" sz="1200" b="0" ker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해</a:t>
                      </a:r>
                      <a:endParaRPr lang="ko-KR" sz="1200" b="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sz="1200" b="0" ker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일시적 불편을 야기하는 상태</a:t>
                      </a:r>
                      <a:r>
                        <a:rPr lang="en-US" sz="1200" b="0" ker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sz="1200" b="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04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sz="1200" b="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200" b="0" ker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보통</a:t>
                      </a:r>
                      <a:endParaRPr lang="ko-KR" sz="1200" b="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sz="1200" b="0" ker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 이하의 경상</a:t>
                      </a:r>
                      <a:r>
                        <a:rPr lang="en-US" sz="1200" b="0" ker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sz="1200" b="0" ker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손해액</a:t>
                      </a:r>
                      <a:r>
                        <a:rPr lang="en-US" sz="1200" b="0" ker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1</a:t>
                      </a:r>
                      <a:r>
                        <a:rPr lang="ko-KR" sz="1200" b="0" ker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백만원 이하</a:t>
                      </a:r>
                      <a:endParaRPr lang="ko-KR" sz="1200" b="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702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sz="1200" b="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200" b="0" ker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위험</a:t>
                      </a:r>
                      <a:endParaRPr lang="ko-KR" sz="1200" b="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200" b="0" ker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중상해</a:t>
                      </a:r>
                      <a:r>
                        <a:rPr lang="en-US" sz="1200" b="0" ker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(4</a:t>
                      </a:r>
                      <a:r>
                        <a:rPr lang="ko-KR" sz="1200" b="0" ker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 이상 요양 필요</a:t>
                      </a:r>
                      <a:r>
                        <a:rPr lang="en-US" sz="1200" b="0" ker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/ </a:t>
                      </a:r>
                      <a:endParaRPr lang="ko-KR" sz="1200" b="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sz="1200" b="0" ker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주 이하의 휴업 재해</a:t>
                      </a:r>
                      <a:r>
                        <a:rPr lang="en-US" sz="1200" b="0" ker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sz="1200" b="0" ker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손해액</a:t>
                      </a:r>
                      <a:r>
                        <a:rPr lang="en-US" sz="1200" b="0" ker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1</a:t>
                      </a:r>
                      <a:r>
                        <a:rPr lang="ko-KR" sz="1200" b="0" ker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백만원</a:t>
                      </a:r>
                      <a:r>
                        <a:rPr lang="en-US" sz="1200" b="0" ker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~ 1</a:t>
                      </a:r>
                      <a:r>
                        <a:rPr lang="ko-KR" sz="1200" b="0" ker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천만원</a:t>
                      </a:r>
                      <a:endParaRPr lang="ko-KR" sz="1200" b="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04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ko-KR" sz="1200" b="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200" b="0" ker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매우위험</a:t>
                      </a:r>
                      <a:endParaRPr lang="ko-KR" sz="1200" b="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sz="1200" b="0" ker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주 이상의 휴업 재해</a:t>
                      </a:r>
                      <a:r>
                        <a:rPr lang="en-US" sz="1200" b="0" ker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sz="1200" b="0" ker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손해액</a:t>
                      </a:r>
                      <a:r>
                        <a:rPr lang="en-US" sz="1200" b="0" ker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1</a:t>
                      </a:r>
                      <a:r>
                        <a:rPr lang="ko-KR" sz="1200" b="0" ker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천만원</a:t>
                      </a:r>
                      <a:r>
                        <a:rPr lang="en-US" sz="1200" b="0" ker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~ 1</a:t>
                      </a:r>
                      <a:r>
                        <a:rPr lang="ko-KR" sz="1200" b="0" ker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억원</a:t>
                      </a:r>
                      <a:endParaRPr lang="ko-KR" sz="1200" b="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04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ko-KR" sz="1200" b="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200" b="0" ker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치명적</a:t>
                      </a:r>
                      <a:endParaRPr lang="ko-KR" sz="1200" b="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sz="1200" b="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인 이상 사망 재해</a:t>
                      </a:r>
                      <a:r>
                        <a:rPr lang="en-US" sz="1200" b="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sz="1200" b="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손해액</a:t>
                      </a:r>
                      <a:r>
                        <a:rPr lang="en-US" sz="1200" b="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1</a:t>
                      </a:r>
                      <a:r>
                        <a:rPr lang="ko-KR" sz="1200" b="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억 이상</a:t>
                      </a:r>
                      <a:endParaRPr lang="ko-KR" sz="1200" b="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6D1D0834-E34B-8A73-9041-A8E8CD676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732729">
            <a:off x="1615283" y="4158145"/>
            <a:ext cx="3627434" cy="987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669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16"/>
          <p:cNvSpPr txBox="1">
            <a:spLocks/>
          </p:cNvSpPr>
          <p:nvPr/>
        </p:nvSpPr>
        <p:spPr>
          <a:xfrm>
            <a:off x="393701" y="516885"/>
            <a:ext cx="6070598" cy="8752336"/>
          </a:xfrm>
          <a:prstGeom prst="rect">
            <a:avLst/>
          </a:prstGeom>
        </p:spPr>
        <p:txBody>
          <a:bodyPr/>
          <a:lstStyle>
            <a:lvl1pPr marL="0" indent="-180000" algn="l" defTabSz="914228" rtl="0" eaLnBrk="1" latinLnBrk="1" hangingPunct="1">
              <a:lnSpc>
                <a:spcPct val="150000"/>
              </a:lnSpc>
              <a:spcBef>
                <a:spcPct val="20000"/>
              </a:spcBef>
              <a:buFont typeface="+mj-lt"/>
              <a:buAutoNum type="arabicPeriod"/>
              <a:defRPr lang="ko-KR" altLang="en-US" sz="1200" b="1" kern="1200" dirty="0" smtClean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96000" indent="-180000" algn="l" defTabSz="914341" rtl="0" eaLnBrk="1" latinLnBrk="1" hangingPunct="1">
              <a:lnSpc>
                <a:spcPts val="1500"/>
              </a:lnSpc>
              <a:spcBef>
                <a:spcPct val="20000"/>
              </a:spcBef>
              <a:buFont typeface="+mj-lt"/>
              <a:buAutoNum type="arabicParenR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12000" indent="-180000" algn="l" defTabSz="914341" rtl="0" eaLnBrk="1" latinLnBrk="1" hangingPunct="1">
              <a:lnSpc>
                <a:spcPts val="1250"/>
              </a:lnSpc>
              <a:spcBef>
                <a:spcPct val="20000"/>
              </a:spcBef>
              <a:buFont typeface="+mj-ea"/>
              <a:buAutoNum type="circleNumDbPlain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42" indent="0" algn="l" defTabSz="914341" rtl="0" eaLnBrk="1" latinLnBrk="1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68" indent="-228586" algn="l" defTabSz="914341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39" indent="-228586" algn="l" defTabSz="914341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10" indent="-228586" algn="l" defTabSz="914341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80" indent="-228586" algn="l" defTabSz="914341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51" indent="-228586" algn="l" defTabSz="914341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42925" indent="-542925" algn="ctr" defTabSz="1042988" fontAlgn="base">
              <a:spcAft>
                <a:spcPct val="0"/>
              </a:spcAft>
              <a:buNone/>
              <a:defRPr/>
            </a:pP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위험성 등급 결정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</a:p>
          <a:p>
            <a:pPr marL="542925" indent="-542925" defTabSz="1042988" fontAlgn="base">
              <a:spcAft>
                <a:spcPct val="0"/>
              </a:spcAft>
              <a:buNone/>
              <a:defRPr/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42925" indent="-542925" defTabSz="1042988" fontAlgn="base">
              <a:spcAft>
                <a:spcPct val="0"/>
              </a:spcAft>
              <a:buNone/>
              <a:defRPr/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42925" indent="-542925" defTabSz="1042988" fontAlgn="base">
              <a:spcAft>
                <a:spcPct val="0"/>
              </a:spcAft>
              <a:buNone/>
              <a:defRPr/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42925" indent="-542925" defTabSz="1042988" fontAlgn="base">
              <a:spcAft>
                <a:spcPct val="0"/>
              </a:spcAft>
              <a:buNone/>
              <a:defRPr/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42925" indent="-542925" defTabSz="1042988" fontAlgn="base">
              <a:spcAft>
                <a:spcPct val="0"/>
              </a:spcAft>
              <a:buNone/>
              <a:defRPr/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42925" indent="-542925" defTabSz="1042988" fontAlgn="base">
              <a:spcAft>
                <a:spcPct val="0"/>
              </a:spcAft>
              <a:buNone/>
              <a:defRPr/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42925" indent="-542925" defTabSz="1042988" fontAlgn="base">
              <a:spcAft>
                <a:spcPct val="0"/>
              </a:spcAft>
              <a:buNone/>
              <a:defRPr/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42925" indent="-542925" algn="ctr" defTabSz="1042988" fontAlgn="base">
              <a:spcAft>
                <a:spcPct val="0"/>
              </a:spcAft>
              <a:buNone/>
              <a:defRPr/>
            </a:pP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6.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등급에 따른 관리기준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2385158"/>
              </p:ext>
            </p:extLst>
          </p:nvPr>
        </p:nvGraphicFramePr>
        <p:xfrm>
          <a:off x="431626" y="876570"/>
          <a:ext cx="6032671" cy="21018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953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50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96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96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96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96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96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641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1300">
                <a:tc rowSpan="2" gridSpan="2">
                  <a:txBody>
                    <a:bodyPr/>
                    <a:lstStyle/>
                    <a:p>
                      <a:pPr algn="l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200" b="1" kern="100" dirty="0">
                          <a:solidFill>
                            <a:schemeClr val="bg1"/>
                          </a:solidFill>
                          <a:effectLst/>
                          <a:latin typeface="현대하모니 L"/>
                          <a:ea typeface="현대하모니 L"/>
                          <a:cs typeface="Times New Roman"/>
                        </a:rPr>
                        <a:t>                빈도</a:t>
                      </a:r>
                      <a:endParaRPr lang="en-US" altLang="ko-KR" sz="1200" b="1" kern="100" dirty="0">
                        <a:solidFill>
                          <a:schemeClr val="bg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  <a:p>
                      <a:pPr algn="l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200" b="1" kern="100" dirty="0">
                          <a:solidFill>
                            <a:schemeClr val="bg1"/>
                          </a:solidFill>
                          <a:effectLst/>
                          <a:latin typeface="현대하모니 L"/>
                          <a:ea typeface="현대하모니 L"/>
                          <a:cs typeface="Times New Roman"/>
                        </a:rPr>
                        <a:t>  강도</a:t>
                      </a:r>
                      <a:endParaRPr lang="ko-KR" sz="1200" b="1" kern="100" dirty="0">
                        <a:solidFill>
                          <a:schemeClr val="bg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tx2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just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62865" marR="62865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1" kern="0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ko-KR" sz="1200" b="1" kern="100" dirty="0">
                        <a:solidFill>
                          <a:schemeClr val="bg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1" kern="0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endParaRPr lang="ko-KR" sz="1200" b="1" kern="100" dirty="0">
                        <a:solidFill>
                          <a:schemeClr val="bg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1" kern="0" dirty="0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  <a:endParaRPr lang="ko-KR" sz="1200" b="1" kern="100" dirty="0">
                        <a:solidFill>
                          <a:schemeClr val="bg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1" kern="0" dirty="0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  <a:endParaRPr lang="ko-KR" sz="1200" b="1" kern="100" dirty="0">
                        <a:solidFill>
                          <a:schemeClr val="bg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1" kern="0">
                          <a:solidFill>
                            <a:schemeClr val="bg1"/>
                          </a:solidFill>
                          <a:effectLst/>
                        </a:rPr>
                        <a:t>5</a:t>
                      </a:r>
                      <a:endParaRPr lang="ko-KR" sz="1200" b="1" kern="100">
                        <a:solidFill>
                          <a:schemeClr val="bg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200" b="1" kern="0">
                          <a:solidFill>
                            <a:schemeClr val="bg1"/>
                          </a:solidFill>
                          <a:effectLst/>
                        </a:rPr>
                        <a:t>비고</a:t>
                      </a:r>
                      <a:endParaRPr lang="ko-KR" sz="1200" b="1" kern="100">
                        <a:solidFill>
                          <a:schemeClr val="bg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 gridSpan="2" v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100" kern="100"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62865" marR="62865" marT="0" marB="0" anchor="ctr"/>
                </a:tc>
                <a:tc hMerge="1" vMerge="1">
                  <a:txBody>
                    <a:bodyPr/>
                    <a:lstStyle/>
                    <a:p>
                      <a:pPr algn="l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62865" marR="62865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200" b="1" kern="0">
                          <a:solidFill>
                            <a:schemeClr val="bg1"/>
                          </a:solidFill>
                          <a:effectLst/>
                          <a:latin typeface="현대하모니 L"/>
                          <a:ea typeface="현대하모니 L"/>
                          <a:cs typeface="Times New Roman"/>
                        </a:rPr>
                        <a:t>매우 낮음</a:t>
                      </a:r>
                      <a:endParaRPr lang="ko-KR" sz="1200" b="1" kern="100" dirty="0">
                        <a:solidFill>
                          <a:schemeClr val="bg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200" b="1" kern="0" dirty="0">
                          <a:solidFill>
                            <a:schemeClr val="bg1"/>
                          </a:solidFill>
                          <a:effectLst/>
                        </a:rPr>
                        <a:t>낮음</a:t>
                      </a:r>
                      <a:endParaRPr lang="ko-KR" sz="1200" b="1" kern="100" dirty="0">
                        <a:solidFill>
                          <a:schemeClr val="bg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200" b="1" kern="0" dirty="0">
                          <a:solidFill>
                            <a:schemeClr val="bg1"/>
                          </a:solidFill>
                          <a:effectLst/>
                        </a:rPr>
                        <a:t>보통</a:t>
                      </a:r>
                      <a:endParaRPr lang="ko-KR" sz="1200" b="1" kern="100" dirty="0">
                        <a:solidFill>
                          <a:schemeClr val="bg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200" b="1" kern="0" dirty="0">
                          <a:solidFill>
                            <a:schemeClr val="bg1"/>
                          </a:solidFill>
                          <a:effectLst/>
                        </a:rPr>
                        <a:t>높음</a:t>
                      </a:r>
                      <a:endParaRPr lang="ko-KR" sz="1200" b="1" kern="100" dirty="0">
                        <a:solidFill>
                          <a:schemeClr val="bg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200" b="1" kern="0" dirty="0" err="1">
                          <a:solidFill>
                            <a:schemeClr val="bg1"/>
                          </a:solidFill>
                          <a:effectLst/>
                        </a:rPr>
                        <a:t>매우높음</a:t>
                      </a:r>
                      <a:endParaRPr lang="ko-KR" sz="1200" b="1" kern="100" dirty="0">
                        <a:solidFill>
                          <a:schemeClr val="bg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ko-KR" sz="1200" b="0" kern="100">
                        <a:solidFill>
                          <a:schemeClr val="tx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200" b="0" kern="0">
                          <a:solidFill>
                            <a:schemeClr val="tx1"/>
                          </a:solidFill>
                          <a:effectLst/>
                        </a:rPr>
                        <a:t>경미</a:t>
                      </a:r>
                      <a:endParaRPr lang="ko-KR" sz="1200" b="0" kern="100">
                        <a:solidFill>
                          <a:schemeClr val="tx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ko-KR" sz="1200" b="0" kern="100" dirty="0">
                        <a:solidFill>
                          <a:schemeClr val="tx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ko-KR" sz="1200" b="0" kern="100" dirty="0">
                        <a:solidFill>
                          <a:schemeClr val="tx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ko-KR" sz="1200" b="0" kern="100">
                        <a:solidFill>
                          <a:schemeClr val="tx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0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ko-KR" sz="1200" b="0" kern="100" dirty="0">
                        <a:solidFill>
                          <a:schemeClr val="tx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0" dirty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ko-KR" sz="1200" b="0" kern="100" dirty="0">
                        <a:solidFill>
                          <a:schemeClr val="tx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050" b="0" kern="0" dirty="0">
                          <a:solidFill>
                            <a:schemeClr val="tx1"/>
                          </a:solidFill>
                          <a:effectLst/>
                        </a:rPr>
                        <a:t>중요 위험성</a:t>
                      </a:r>
                      <a:r>
                        <a:rPr lang="en-US" sz="1050" b="0" kern="0" dirty="0">
                          <a:solidFill>
                            <a:schemeClr val="tx1"/>
                          </a:solidFill>
                          <a:effectLst/>
                        </a:rPr>
                        <a:t>:</a:t>
                      </a:r>
                      <a:endParaRPr lang="ko-KR" sz="1050" b="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b="0" kern="0" dirty="0"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  <a:r>
                        <a:rPr lang="ko-KR" sz="1050" b="0" kern="0" dirty="0">
                          <a:solidFill>
                            <a:schemeClr val="tx1"/>
                          </a:solidFill>
                          <a:effectLst/>
                        </a:rPr>
                        <a:t>점 이상</a:t>
                      </a:r>
                      <a:endParaRPr lang="ko-KR" sz="1050" b="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050" b="0" kern="0" dirty="0">
                          <a:solidFill>
                            <a:schemeClr val="tx1"/>
                          </a:solidFill>
                          <a:effectLst/>
                        </a:rPr>
                        <a:t>중요위험</a:t>
                      </a:r>
                      <a:endParaRPr lang="ko-KR" sz="1050" b="0" kern="100" dirty="0">
                        <a:solidFill>
                          <a:schemeClr val="tx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ko-KR" sz="1200" b="0" kern="100">
                        <a:solidFill>
                          <a:schemeClr val="tx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200" b="0" kern="0">
                          <a:solidFill>
                            <a:schemeClr val="tx1"/>
                          </a:solidFill>
                          <a:effectLst/>
                        </a:rPr>
                        <a:t>보통</a:t>
                      </a:r>
                      <a:endParaRPr lang="ko-KR" sz="1200" b="0" kern="100">
                        <a:solidFill>
                          <a:schemeClr val="tx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ko-KR" sz="1200" b="0" kern="100" dirty="0">
                        <a:solidFill>
                          <a:schemeClr val="tx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0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ko-KR" sz="1200" b="0" kern="100" dirty="0">
                        <a:solidFill>
                          <a:schemeClr val="tx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0" dirty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ko-KR" sz="1200" b="0" kern="100" dirty="0">
                        <a:solidFill>
                          <a:schemeClr val="tx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0" dirty="0"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  <a:endParaRPr lang="ko-KR" sz="1200" b="0" kern="100" dirty="0">
                        <a:solidFill>
                          <a:schemeClr val="tx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0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endParaRPr lang="ko-KR" sz="1200" b="0" kern="100" dirty="0">
                        <a:solidFill>
                          <a:schemeClr val="tx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ko-KR" sz="1200" b="0" kern="100">
                        <a:solidFill>
                          <a:schemeClr val="tx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200" b="0" kern="0">
                          <a:solidFill>
                            <a:schemeClr val="tx1"/>
                          </a:solidFill>
                          <a:effectLst/>
                        </a:rPr>
                        <a:t>위험</a:t>
                      </a:r>
                      <a:endParaRPr lang="ko-KR" sz="1200" b="0" kern="100">
                        <a:solidFill>
                          <a:schemeClr val="tx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ko-KR" sz="1200" b="0" kern="100" dirty="0">
                        <a:solidFill>
                          <a:schemeClr val="tx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0" dirty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ko-KR" sz="1200" b="0" kern="100" dirty="0">
                        <a:solidFill>
                          <a:schemeClr val="tx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0" dirty="0">
                          <a:solidFill>
                            <a:schemeClr val="tx1"/>
                          </a:solidFill>
                          <a:effectLst/>
                        </a:rPr>
                        <a:t>9</a:t>
                      </a:r>
                      <a:endParaRPr lang="ko-KR" sz="1200" b="0" kern="100" dirty="0">
                        <a:solidFill>
                          <a:schemeClr val="tx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0" dirty="0">
                          <a:solidFill>
                            <a:schemeClr val="tx1"/>
                          </a:solidFill>
                          <a:effectLst/>
                        </a:rPr>
                        <a:t>12</a:t>
                      </a:r>
                      <a:endParaRPr lang="ko-KR" sz="1200" b="0" kern="100" dirty="0">
                        <a:solidFill>
                          <a:schemeClr val="tx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0" dirty="0">
                          <a:solidFill>
                            <a:schemeClr val="tx1"/>
                          </a:solidFill>
                          <a:effectLst/>
                        </a:rPr>
                        <a:t>15</a:t>
                      </a:r>
                      <a:endParaRPr lang="ko-KR" sz="1200" b="0" kern="100" dirty="0">
                        <a:solidFill>
                          <a:schemeClr val="tx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ko-KR" sz="1200" b="0" kern="100">
                        <a:solidFill>
                          <a:schemeClr val="tx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200" b="0" kern="0">
                          <a:solidFill>
                            <a:schemeClr val="tx1"/>
                          </a:solidFill>
                          <a:effectLst/>
                        </a:rPr>
                        <a:t>매우위험</a:t>
                      </a:r>
                      <a:endParaRPr lang="ko-KR" sz="1200" b="0" kern="100">
                        <a:solidFill>
                          <a:schemeClr val="tx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ko-KR" sz="1200" b="0" kern="100">
                        <a:solidFill>
                          <a:schemeClr val="tx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0" dirty="0"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  <a:endParaRPr lang="ko-KR" sz="1200" b="0" kern="100" dirty="0">
                        <a:solidFill>
                          <a:schemeClr val="tx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0" dirty="0">
                          <a:solidFill>
                            <a:schemeClr val="tx1"/>
                          </a:solidFill>
                          <a:effectLst/>
                        </a:rPr>
                        <a:t>12</a:t>
                      </a:r>
                      <a:endParaRPr lang="ko-KR" sz="1200" b="0" kern="100" dirty="0">
                        <a:solidFill>
                          <a:schemeClr val="tx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0" dirty="0">
                          <a:solidFill>
                            <a:schemeClr val="tx1"/>
                          </a:solidFill>
                          <a:effectLst/>
                        </a:rPr>
                        <a:t>16</a:t>
                      </a:r>
                      <a:endParaRPr lang="ko-KR" sz="1200" b="0" kern="100" dirty="0">
                        <a:solidFill>
                          <a:schemeClr val="tx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0" dirty="0">
                          <a:solidFill>
                            <a:schemeClr val="tx1"/>
                          </a:solidFill>
                          <a:effectLst/>
                        </a:rPr>
                        <a:t>20</a:t>
                      </a:r>
                      <a:endParaRPr lang="ko-KR" sz="1200" b="0" kern="100" dirty="0">
                        <a:solidFill>
                          <a:schemeClr val="tx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ko-KR" sz="1200" b="0" kern="100">
                        <a:solidFill>
                          <a:schemeClr val="tx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200" b="0" kern="0">
                          <a:solidFill>
                            <a:schemeClr val="tx1"/>
                          </a:solidFill>
                          <a:effectLst/>
                        </a:rPr>
                        <a:t>치명적</a:t>
                      </a:r>
                      <a:endParaRPr lang="ko-KR" sz="1200" b="0" kern="100">
                        <a:solidFill>
                          <a:schemeClr val="tx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0" dirty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ko-KR" sz="1200" b="0" kern="100" dirty="0">
                        <a:solidFill>
                          <a:schemeClr val="tx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0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endParaRPr lang="ko-KR" sz="1200" b="0" kern="100" dirty="0">
                        <a:solidFill>
                          <a:schemeClr val="tx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0" dirty="0">
                          <a:solidFill>
                            <a:schemeClr val="tx1"/>
                          </a:solidFill>
                          <a:effectLst/>
                        </a:rPr>
                        <a:t>15</a:t>
                      </a:r>
                      <a:endParaRPr lang="ko-KR" sz="1200" b="0" kern="100" dirty="0">
                        <a:solidFill>
                          <a:schemeClr val="tx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0">
                          <a:solidFill>
                            <a:schemeClr val="tx1"/>
                          </a:solidFill>
                          <a:effectLst/>
                        </a:rPr>
                        <a:t>20</a:t>
                      </a:r>
                      <a:endParaRPr lang="ko-KR" sz="1200" b="0" kern="100">
                        <a:solidFill>
                          <a:schemeClr val="tx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0" dirty="0">
                          <a:solidFill>
                            <a:schemeClr val="tx1"/>
                          </a:solidFill>
                          <a:effectLst/>
                        </a:rPr>
                        <a:t>25</a:t>
                      </a:r>
                      <a:endParaRPr lang="ko-KR" sz="1200" b="0" kern="100" dirty="0">
                        <a:solidFill>
                          <a:schemeClr val="tx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6745340"/>
              </p:ext>
            </p:extLst>
          </p:nvPr>
        </p:nvGraphicFramePr>
        <p:xfrm>
          <a:off x="431624" y="3394365"/>
          <a:ext cx="6032674" cy="591178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953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50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60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200" b="1" kern="0" dirty="0">
                          <a:solidFill>
                            <a:schemeClr val="bg1"/>
                          </a:solidFill>
                          <a:effectLst/>
                        </a:rPr>
                        <a:t>등급</a:t>
                      </a:r>
                      <a:endParaRPr lang="ko-KR" sz="1200" b="1" kern="100" dirty="0">
                        <a:solidFill>
                          <a:schemeClr val="bg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36195" marR="36195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200" b="1" kern="0" dirty="0" err="1">
                          <a:solidFill>
                            <a:schemeClr val="bg1"/>
                          </a:solidFill>
                          <a:effectLst/>
                        </a:rPr>
                        <a:t>위험정도</a:t>
                      </a:r>
                      <a:endParaRPr lang="ko-KR" sz="1200" b="1" kern="100" dirty="0">
                        <a:solidFill>
                          <a:schemeClr val="bg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36195" marR="36195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200" b="1" kern="0" dirty="0">
                          <a:solidFill>
                            <a:schemeClr val="bg1"/>
                          </a:solidFill>
                          <a:effectLst/>
                        </a:rPr>
                        <a:t>위험성 관리 항목</a:t>
                      </a:r>
                      <a:endParaRPr lang="ko-KR" sz="1200" b="1" kern="100" dirty="0">
                        <a:solidFill>
                          <a:schemeClr val="bg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36195" marR="36195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000" b="1" kern="0" dirty="0">
                          <a:solidFill>
                            <a:schemeClr val="bg1"/>
                          </a:solidFill>
                          <a:effectLst/>
                        </a:rPr>
                        <a:t>비고</a:t>
                      </a:r>
                      <a:endParaRPr lang="ko-KR" sz="1100" b="1" kern="100" dirty="0">
                        <a:solidFill>
                          <a:schemeClr val="bg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36195" marR="36195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51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200" b="0" kern="0">
                          <a:solidFill>
                            <a:schemeClr val="tx1"/>
                          </a:solidFill>
                          <a:effectLst/>
                        </a:rPr>
                        <a:t>D</a:t>
                      </a:r>
                      <a:endParaRPr lang="ko-KR" sz="1200" b="0" kern="1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0">
                          <a:solidFill>
                            <a:schemeClr val="tx1"/>
                          </a:solidFill>
                          <a:effectLst/>
                        </a:rPr>
                        <a:t>(1,2)</a:t>
                      </a:r>
                      <a:endParaRPr lang="ko-KR" sz="1200" b="0" kern="100">
                        <a:solidFill>
                          <a:schemeClr val="tx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36195" marR="36195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200" b="0" kern="0" dirty="0">
                          <a:solidFill>
                            <a:schemeClr val="tx1"/>
                          </a:solidFill>
                          <a:effectLst/>
                        </a:rPr>
                        <a:t>작다</a:t>
                      </a:r>
                      <a:endParaRPr lang="ko-KR" sz="1200" b="0" kern="100" dirty="0">
                        <a:solidFill>
                          <a:schemeClr val="tx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36195" marR="36195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0" indent="-127000" algn="l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200" b="0" kern="0" dirty="0">
                          <a:solidFill>
                            <a:schemeClr val="tx1"/>
                          </a:solidFill>
                          <a:effectLst/>
                        </a:rPr>
                        <a:t>▶ 사소한 위험으로서 별도의 조치를 취할 필요가</a:t>
                      </a:r>
                      <a:br>
                        <a:rPr lang="en-US" sz="1200" b="0" kern="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1200" b="0" kern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ko-KR" sz="1200" b="0" kern="0" dirty="0">
                          <a:solidFill>
                            <a:schemeClr val="tx1"/>
                          </a:solidFill>
                          <a:effectLst/>
                        </a:rPr>
                        <a:t>없으며</a:t>
                      </a:r>
                      <a:r>
                        <a:rPr lang="en-US" sz="1200" b="0" kern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ko-KR" sz="1200" b="0" kern="0" dirty="0">
                          <a:solidFill>
                            <a:schemeClr val="tx1"/>
                          </a:solidFill>
                          <a:effectLst/>
                        </a:rPr>
                        <a:t>문서기록을 남길 필요도 없다</a:t>
                      </a:r>
                      <a:r>
                        <a:rPr lang="en-US" sz="1200" b="0" kern="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ko-KR" sz="1200" b="0" kern="100" dirty="0">
                        <a:solidFill>
                          <a:schemeClr val="tx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36195" marR="36195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000" b="0" kern="0" dirty="0">
                          <a:solidFill>
                            <a:schemeClr val="tx1"/>
                          </a:solidFill>
                          <a:effectLst/>
                        </a:rPr>
                        <a:t>위험성을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000" b="0" kern="0" dirty="0">
                          <a:solidFill>
                            <a:schemeClr val="tx1"/>
                          </a:solidFill>
                          <a:effectLst/>
                        </a:rPr>
                        <a:t>수용함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0" kern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sz="1000" b="0" kern="0" dirty="0">
                          <a:solidFill>
                            <a:schemeClr val="tx1"/>
                          </a:solidFill>
                          <a:effectLst/>
                        </a:rPr>
                        <a:t>현 상태로 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000" b="0" kern="0" dirty="0">
                          <a:solidFill>
                            <a:schemeClr val="tx1"/>
                          </a:solidFill>
                          <a:effectLst/>
                        </a:rPr>
                        <a:t>계속 작업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0" kern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ko-KR" sz="1000" b="0" kern="0" dirty="0">
                          <a:solidFill>
                            <a:schemeClr val="tx1"/>
                          </a:solidFill>
                          <a:effectLst/>
                        </a:rPr>
                        <a:t>가능</a:t>
                      </a:r>
                      <a:r>
                        <a:rPr lang="en-US" sz="1000" b="0" kern="0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36195" marR="36195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2195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200" b="0" kern="0"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  <a:endParaRPr lang="ko-KR" sz="1200" b="0" kern="1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0">
                          <a:solidFill>
                            <a:schemeClr val="tx1"/>
                          </a:solidFill>
                          <a:effectLst/>
                        </a:rPr>
                        <a:t>(3,4,</a:t>
                      </a:r>
                      <a:endParaRPr lang="ko-KR" sz="1200" b="0" kern="1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0">
                          <a:solidFill>
                            <a:schemeClr val="tx1"/>
                          </a:solidFill>
                          <a:effectLst/>
                        </a:rPr>
                        <a:t>5,6)</a:t>
                      </a:r>
                      <a:endParaRPr lang="ko-KR" sz="1200" b="0" kern="100">
                        <a:solidFill>
                          <a:schemeClr val="tx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36195" marR="36195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200" b="0" kern="0" dirty="0">
                          <a:solidFill>
                            <a:schemeClr val="tx1"/>
                          </a:solidFill>
                          <a:effectLst/>
                        </a:rPr>
                        <a:t>허용가능</a:t>
                      </a:r>
                      <a:endParaRPr lang="ko-KR" sz="1200" b="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sz="1200" b="0" kern="0" dirty="0">
                          <a:solidFill>
                            <a:schemeClr val="tx1"/>
                          </a:solidFill>
                          <a:effectLst/>
                        </a:rPr>
                        <a:t>경미</a:t>
                      </a:r>
                      <a:r>
                        <a:rPr lang="en-US" sz="1200" b="0" kern="0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ko-KR" sz="1200" b="0" kern="100" dirty="0">
                        <a:solidFill>
                          <a:schemeClr val="tx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36195" marR="36195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90500" indent="-190500" algn="l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200" b="0" kern="0" dirty="0">
                          <a:solidFill>
                            <a:schemeClr val="tx1"/>
                          </a:solidFill>
                          <a:effectLst/>
                        </a:rPr>
                        <a:t>▶ 약간의 위험성이 있지만 허용 가능한 위험성으로서</a:t>
                      </a:r>
                      <a:r>
                        <a:rPr lang="en-US" sz="1200" b="0" kern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ko-KR" sz="1200" b="0" kern="0" dirty="0">
                          <a:solidFill>
                            <a:schemeClr val="tx1"/>
                          </a:solidFill>
                          <a:effectLst/>
                        </a:rPr>
                        <a:t>현행의 관행 또는 운영절차에 따라 관리 및 유지하면 된다</a:t>
                      </a:r>
                      <a:r>
                        <a:rPr lang="en-US" sz="1200" b="0" kern="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ko-KR" sz="1200" b="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190500" indent="-190500" algn="l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200" b="0" kern="0" dirty="0">
                          <a:solidFill>
                            <a:schemeClr val="tx1"/>
                          </a:solidFill>
                          <a:effectLst/>
                        </a:rPr>
                        <a:t>▶ 재정적 부담을 주지 않는 효과적인 해결책이나 개선안에 대해 검토 한다</a:t>
                      </a:r>
                      <a:r>
                        <a:rPr lang="en-US" sz="1200" b="0" kern="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ko-KR" sz="1200" b="0" kern="100" dirty="0">
                        <a:solidFill>
                          <a:schemeClr val="tx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36195" marR="36195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827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200" b="0" kern="0">
                          <a:solidFill>
                            <a:schemeClr val="tx1"/>
                          </a:solidFill>
                          <a:effectLst/>
                        </a:rPr>
                        <a:t>B</a:t>
                      </a:r>
                      <a:endParaRPr lang="ko-KR" sz="1200" b="0" kern="1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0">
                          <a:solidFill>
                            <a:schemeClr val="tx1"/>
                          </a:solidFill>
                          <a:effectLst/>
                        </a:rPr>
                        <a:t>(8,9,</a:t>
                      </a:r>
                      <a:endParaRPr lang="ko-KR" sz="1200" b="0" kern="1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0">
                          <a:solidFill>
                            <a:schemeClr val="tx1"/>
                          </a:solidFill>
                          <a:effectLst/>
                        </a:rPr>
                        <a:t>10)</a:t>
                      </a:r>
                      <a:endParaRPr lang="ko-KR" sz="1200" b="0" kern="100">
                        <a:solidFill>
                          <a:schemeClr val="tx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36195" marR="36195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200" b="0" kern="0">
                          <a:solidFill>
                            <a:schemeClr val="tx1"/>
                          </a:solidFill>
                          <a:effectLst/>
                        </a:rPr>
                        <a:t>보통</a:t>
                      </a:r>
                      <a:endParaRPr lang="ko-KR" sz="1200" b="0" kern="100">
                        <a:solidFill>
                          <a:schemeClr val="tx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36195" marR="36195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200" b="0" kern="0" dirty="0">
                          <a:solidFill>
                            <a:schemeClr val="tx1"/>
                          </a:solidFill>
                          <a:effectLst/>
                        </a:rPr>
                        <a:t>▶ 관리해야 할 위험성이 존재하고 있음</a:t>
                      </a:r>
                      <a:r>
                        <a:rPr lang="en-US" sz="1200" b="0" kern="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ko-KR" sz="1200" b="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153670" indent="-153670" algn="l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200" b="0" kern="0" dirty="0">
                          <a:solidFill>
                            <a:schemeClr val="tx1"/>
                          </a:solidFill>
                          <a:effectLst/>
                        </a:rPr>
                        <a:t>▶ 비용효과 측면과 기술적 방안의 활용 가능성을</a:t>
                      </a:r>
                      <a:br>
                        <a:rPr lang="en-US" altLang="ko-KR" sz="1200" b="0" kern="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ko-KR" sz="1200" b="0" kern="0" dirty="0">
                          <a:solidFill>
                            <a:schemeClr val="tx1"/>
                          </a:solidFill>
                          <a:effectLst/>
                        </a:rPr>
                        <a:t>고려하여 위험 발생 가능성을 감소하거나 재해 발생 방지 및 원활을 위해 개선이 필요하다</a:t>
                      </a:r>
                      <a:r>
                        <a:rPr lang="en-US" sz="1200" b="0" kern="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ko-KR" sz="1200" b="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127000" indent="-127000" algn="l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200" b="0" kern="0" dirty="0">
                          <a:solidFill>
                            <a:schemeClr val="tx1"/>
                          </a:solidFill>
                          <a:effectLst/>
                        </a:rPr>
                        <a:t>▶ 위험을 줄이기 위한 노력을 일정예산 또는 기준 한도 내에서 실시 가능하다</a:t>
                      </a:r>
                      <a:r>
                        <a:rPr lang="en-US" sz="1200" b="0" kern="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ko-KR" sz="1200" b="0" kern="100" dirty="0">
                        <a:solidFill>
                          <a:schemeClr val="tx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36195" marR="36195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000" b="0" kern="0" dirty="0">
                          <a:solidFill>
                            <a:schemeClr val="tx1"/>
                          </a:solidFill>
                          <a:effectLst/>
                        </a:rPr>
                        <a:t>조건부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000" b="0" kern="0" dirty="0">
                          <a:solidFill>
                            <a:schemeClr val="tx1"/>
                          </a:solidFill>
                          <a:effectLst/>
                        </a:rPr>
                        <a:t>위험성 수용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0" kern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sz="1000" b="0" kern="0" dirty="0">
                          <a:solidFill>
                            <a:schemeClr val="tx1"/>
                          </a:solidFill>
                          <a:effectLst/>
                        </a:rPr>
                        <a:t>현재위험이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000" b="0" kern="0" dirty="0">
                          <a:solidFill>
                            <a:schemeClr val="tx1"/>
                          </a:solidFill>
                          <a:effectLst/>
                        </a:rPr>
                        <a:t>없으면 작업을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000" b="0" kern="0" dirty="0">
                          <a:solidFill>
                            <a:schemeClr val="tx1"/>
                          </a:solidFill>
                          <a:effectLst/>
                        </a:rPr>
                        <a:t>계속하되</a:t>
                      </a:r>
                      <a:r>
                        <a:rPr lang="en-US" sz="1000" b="0" kern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ko-KR" sz="1000" b="0" kern="0" dirty="0">
                          <a:solidFill>
                            <a:schemeClr val="tx1"/>
                          </a:solidFill>
                          <a:effectLst/>
                        </a:rPr>
                        <a:t>위험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000" b="0" kern="0" dirty="0">
                          <a:solidFill>
                            <a:schemeClr val="tx1"/>
                          </a:solidFill>
                          <a:effectLst/>
                        </a:rPr>
                        <a:t>감소활동을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000" b="0" kern="0" dirty="0">
                          <a:solidFill>
                            <a:schemeClr val="tx1"/>
                          </a:solidFill>
                          <a:effectLst/>
                        </a:rPr>
                        <a:t>실시하여야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000" b="0" kern="0">
                          <a:solidFill>
                            <a:schemeClr val="tx1"/>
                          </a:solidFill>
                          <a:effectLst/>
                        </a:rPr>
                        <a:t>한다</a:t>
                      </a:r>
                      <a:r>
                        <a:rPr lang="en-US" altLang="ko-KR" sz="1000" b="0" kern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r>
                        <a:rPr lang="en-US" sz="1000" b="0" kern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36195" marR="36195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200" b="0" kern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ko-KR" sz="1200" b="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0" dirty="0">
                          <a:solidFill>
                            <a:schemeClr val="tx1"/>
                          </a:solidFill>
                          <a:effectLst/>
                        </a:rPr>
                        <a:t>(12,</a:t>
                      </a:r>
                      <a:endParaRPr lang="ko-KR" sz="1200" b="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0" dirty="0">
                          <a:solidFill>
                            <a:schemeClr val="tx1"/>
                          </a:solidFill>
                          <a:effectLst/>
                        </a:rPr>
                        <a:t>15,</a:t>
                      </a:r>
                      <a:endParaRPr lang="ko-KR" sz="1200" b="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0" dirty="0">
                          <a:solidFill>
                            <a:schemeClr val="tx1"/>
                          </a:solidFill>
                          <a:effectLst/>
                        </a:rPr>
                        <a:t>16)</a:t>
                      </a:r>
                      <a:endParaRPr lang="ko-KR" sz="1200" b="0" kern="100" dirty="0">
                        <a:solidFill>
                          <a:schemeClr val="tx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36195" marR="36195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200" b="0" kern="0">
                          <a:solidFill>
                            <a:schemeClr val="tx1"/>
                          </a:solidFill>
                          <a:effectLst/>
                        </a:rPr>
                        <a:t>중대</a:t>
                      </a:r>
                      <a:endParaRPr lang="ko-KR" sz="1200" b="0" kern="100">
                        <a:solidFill>
                          <a:schemeClr val="tx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36195" marR="36195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90500" indent="-190500" algn="l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200" b="0" kern="0">
                          <a:solidFill>
                            <a:schemeClr val="tx1"/>
                          </a:solidFill>
                          <a:effectLst/>
                        </a:rPr>
                        <a:t>▶ 상당히 큰 위험성으로서 위험성이 적정수준으로 감소 할 때까지 최단 기간 내에 안전조치가 완료되어야 한다</a:t>
                      </a:r>
                      <a:r>
                        <a:rPr lang="en-US" sz="1200" b="0" kern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ko-KR" sz="1200" b="0" kern="1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190500" indent="-190500" algn="l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200" b="0" kern="0">
                          <a:solidFill>
                            <a:schemeClr val="tx1"/>
                          </a:solidFill>
                          <a:effectLst/>
                        </a:rPr>
                        <a:t>▶ 위험을 줄이기 위해 많은 인적</a:t>
                      </a:r>
                      <a:r>
                        <a:rPr lang="en-US" sz="1200" b="0" kern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ko-KR" sz="1200" b="0" kern="0">
                          <a:solidFill>
                            <a:schemeClr val="tx1"/>
                          </a:solidFill>
                          <a:effectLst/>
                        </a:rPr>
                        <a:t>물적 자원을 투입해야 한다</a:t>
                      </a:r>
                      <a:r>
                        <a:rPr lang="en-US" sz="1200" b="0" kern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ko-KR" sz="1200" b="0" kern="1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190500" indent="-190500" algn="l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200" b="0" kern="0">
                          <a:solidFill>
                            <a:schemeClr val="tx1"/>
                          </a:solidFill>
                          <a:effectLst/>
                        </a:rPr>
                        <a:t>▶ 위험이 현존하고 있다면 작업중지 등 긴급 조치를 취해야 한다</a:t>
                      </a:r>
                      <a:r>
                        <a:rPr lang="en-US" sz="1200" b="0" kern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ko-KR" sz="1200" b="0" kern="100">
                        <a:solidFill>
                          <a:schemeClr val="tx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36195" marR="36195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8966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200" b="0" kern="0">
                          <a:solidFill>
                            <a:schemeClr val="tx1"/>
                          </a:solidFill>
                          <a:effectLst/>
                        </a:rPr>
                        <a:t>S</a:t>
                      </a:r>
                      <a:endParaRPr lang="ko-KR" sz="1200" b="0" kern="1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0">
                          <a:solidFill>
                            <a:schemeClr val="tx1"/>
                          </a:solidFill>
                          <a:effectLst/>
                        </a:rPr>
                        <a:t>(20,</a:t>
                      </a:r>
                      <a:endParaRPr lang="ko-KR" sz="1200" b="0" kern="1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0">
                          <a:solidFill>
                            <a:schemeClr val="tx1"/>
                          </a:solidFill>
                          <a:effectLst/>
                        </a:rPr>
                        <a:t>25)</a:t>
                      </a:r>
                      <a:endParaRPr lang="ko-KR" sz="1200" b="0" kern="100">
                        <a:solidFill>
                          <a:schemeClr val="tx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36195" marR="36195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200" b="0" kern="0">
                          <a:solidFill>
                            <a:schemeClr val="tx1"/>
                          </a:solidFill>
                          <a:effectLst/>
                        </a:rPr>
                        <a:t>허용불가</a:t>
                      </a:r>
                      <a:endParaRPr lang="ko-KR" sz="1200" b="0" kern="1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sz="1200" b="0" kern="0">
                          <a:solidFill>
                            <a:schemeClr val="tx1"/>
                          </a:solidFill>
                          <a:effectLst/>
                        </a:rPr>
                        <a:t>심각</a:t>
                      </a:r>
                      <a:r>
                        <a:rPr lang="en-US" sz="1200" b="0" kern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ko-KR" sz="1200" b="0" kern="100">
                        <a:solidFill>
                          <a:schemeClr val="tx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36195" marR="36195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0" indent="-127000" algn="l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200" b="0" kern="0" dirty="0">
                          <a:solidFill>
                            <a:schemeClr val="tx1"/>
                          </a:solidFill>
                          <a:effectLst/>
                        </a:rPr>
                        <a:t>▶ 극단적인 위험으로서 위험수준이 적정 수준으로</a:t>
                      </a:r>
                      <a:br>
                        <a:rPr lang="en-US" sz="1200" b="0" kern="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1200" b="0" kern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ko-KR" sz="1200" b="0" kern="0" dirty="0">
                          <a:solidFill>
                            <a:schemeClr val="tx1"/>
                          </a:solidFill>
                          <a:effectLst/>
                        </a:rPr>
                        <a:t>감지되기 전까지 신규 작업의 착수금지 및</a:t>
                      </a:r>
                      <a:br>
                        <a:rPr lang="en-US" sz="1200" b="0" kern="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1200" b="0" kern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ko-KR" sz="1200" b="0" kern="0" dirty="0">
                          <a:solidFill>
                            <a:schemeClr val="tx1"/>
                          </a:solidFill>
                          <a:effectLst/>
                        </a:rPr>
                        <a:t>진행중인 작업을 중지해야 한다</a:t>
                      </a:r>
                      <a:r>
                        <a:rPr lang="en-US" sz="1200" b="0" kern="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ko-KR" sz="1200" b="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127000" indent="-127000" algn="l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200" b="0" kern="0" dirty="0">
                          <a:solidFill>
                            <a:schemeClr val="tx1"/>
                          </a:solidFill>
                          <a:effectLst/>
                        </a:rPr>
                        <a:t>▶ 자원의 무한정 투입에도 불구하고 위험이 줄어</a:t>
                      </a:r>
                      <a:br>
                        <a:rPr lang="en-US" sz="1200" b="0" kern="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1200" b="0" kern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ko-KR" sz="1200" b="0" kern="0" dirty="0">
                          <a:solidFill>
                            <a:schemeClr val="tx1"/>
                          </a:solidFill>
                          <a:effectLst/>
                        </a:rPr>
                        <a:t>들지</a:t>
                      </a:r>
                      <a:r>
                        <a:rPr lang="en-US" altLang="ko-KR" sz="1200" b="0" kern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ko-KR" sz="1200" b="0" kern="0" dirty="0">
                          <a:solidFill>
                            <a:schemeClr val="tx1"/>
                          </a:solidFill>
                          <a:effectLst/>
                        </a:rPr>
                        <a:t>않으면 작업을 계속 금지해야 한다</a:t>
                      </a:r>
                      <a:r>
                        <a:rPr lang="en-US" sz="1200" b="0" kern="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ko-KR" sz="1200" b="0" kern="100" dirty="0">
                        <a:solidFill>
                          <a:schemeClr val="tx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36195" marR="36195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000" b="0" kern="0" dirty="0">
                          <a:solidFill>
                            <a:schemeClr val="tx1"/>
                          </a:solidFill>
                          <a:effectLst/>
                        </a:rPr>
                        <a:t>작업 불허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현대하모니 L"/>
                        <a:ea typeface="현대하모니 L"/>
                        <a:cs typeface="Times New Roman"/>
                      </a:endParaRPr>
                    </a:p>
                  </a:txBody>
                  <a:tcPr marL="36195" marR="36195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732729">
            <a:off x="1615283" y="4459181"/>
            <a:ext cx="3627434" cy="987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053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A3478-3FC7-3AB6-F522-304B8BD0A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16">
            <a:extLst>
              <a:ext uri="{FF2B5EF4-FFF2-40B4-BE49-F238E27FC236}">
                <a16:creationId xmlns:a16="http://schemas.microsoft.com/office/drawing/2014/main" id="{100CFBFE-8341-C950-A128-E700522AB763}"/>
              </a:ext>
            </a:extLst>
          </p:cNvPr>
          <p:cNvSpPr txBox="1">
            <a:spLocks/>
          </p:cNvSpPr>
          <p:nvPr/>
        </p:nvSpPr>
        <p:spPr>
          <a:xfrm>
            <a:off x="393701" y="516885"/>
            <a:ext cx="6070598" cy="8752336"/>
          </a:xfrm>
          <a:prstGeom prst="rect">
            <a:avLst/>
          </a:prstGeom>
        </p:spPr>
        <p:txBody>
          <a:bodyPr/>
          <a:lstStyle>
            <a:lvl1pPr marL="0" indent="-180000" algn="l" defTabSz="914228" rtl="0" eaLnBrk="1" latinLnBrk="1" hangingPunct="1">
              <a:lnSpc>
                <a:spcPct val="150000"/>
              </a:lnSpc>
              <a:spcBef>
                <a:spcPct val="20000"/>
              </a:spcBef>
              <a:buFont typeface="+mj-lt"/>
              <a:buAutoNum type="arabicPeriod"/>
              <a:defRPr lang="ko-KR" altLang="en-US" sz="1200" b="1" kern="1200" dirty="0" smtClean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96000" indent="-180000" algn="l" defTabSz="914341" rtl="0" eaLnBrk="1" latinLnBrk="1" hangingPunct="1">
              <a:lnSpc>
                <a:spcPts val="1500"/>
              </a:lnSpc>
              <a:spcBef>
                <a:spcPct val="20000"/>
              </a:spcBef>
              <a:buFont typeface="+mj-lt"/>
              <a:buAutoNum type="arabicParenR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12000" indent="-180000" algn="l" defTabSz="914341" rtl="0" eaLnBrk="1" latinLnBrk="1" hangingPunct="1">
              <a:lnSpc>
                <a:spcPts val="1250"/>
              </a:lnSpc>
              <a:spcBef>
                <a:spcPct val="20000"/>
              </a:spcBef>
              <a:buFont typeface="+mj-ea"/>
              <a:buAutoNum type="circleNumDbPlain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42" indent="0" algn="l" defTabSz="914341" rtl="0" eaLnBrk="1" latinLnBrk="1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68" indent="-228586" algn="l" defTabSz="914341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39" indent="-228586" algn="l" defTabSz="914341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10" indent="-228586" algn="l" defTabSz="914341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80" indent="-228586" algn="l" defTabSz="914341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51" indent="-228586" algn="l" defTabSz="914341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42925" indent="-542925" algn="ctr" defTabSz="1042988" fontAlgn="base">
              <a:spcAft>
                <a:spcPct val="0"/>
              </a:spcAft>
              <a:buNone/>
              <a:defRPr/>
            </a:pP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b="0">
                <a:latin typeface="맑은 고딕" panose="020B0503020000020004" pitchFamily="50" charset="-127"/>
                <a:ea typeface="맑은 고딕" panose="020B0503020000020004" pitchFamily="50" charset="-127"/>
              </a:rPr>
              <a:t>표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r>
              <a:rPr lang="en-US" altLang="ko-KR" b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b="0">
                <a:latin typeface="맑은 고딕" panose="020B0503020000020004" pitchFamily="50" charset="-127"/>
                <a:ea typeface="맑은 고딕" panose="020B0503020000020004" pitchFamily="50" charset="-127"/>
              </a:rPr>
              <a:t>고위험 작업</a:t>
            </a:r>
            <a:r>
              <a:rPr lang="en-US" altLang="ko-KR" b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b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b="0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b="0">
                <a:latin typeface="맑은 고딕" panose="020B0503020000020004" pitchFamily="50" charset="-127"/>
                <a:ea typeface="맑은 고딕" panose="020B0503020000020004" pitchFamily="50" charset="-127"/>
              </a:rPr>
              <a:t>대 사망사고 다발 작업 기준</a:t>
            </a:r>
            <a:r>
              <a:rPr lang="en-US" altLang="ko-KR" b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60FC7F47-F671-97FE-75B2-84E1F99EF0F0}"/>
              </a:ext>
            </a:extLst>
          </p:cNvPr>
          <p:cNvCxnSpPr>
            <a:cxnSpLocks/>
            <a:stCxn id="27" idx="3"/>
            <a:endCxn id="52" idx="7"/>
          </p:cNvCxnSpPr>
          <p:nvPr/>
        </p:nvCxnSpPr>
        <p:spPr>
          <a:xfrm flipV="1">
            <a:off x="2850963" y="5909024"/>
            <a:ext cx="989378" cy="770610"/>
          </a:xfrm>
          <a:prstGeom prst="straightConnector1">
            <a:avLst/>
          </a:prstGeom>
          <a:ln w="3175" cap="rnd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7ADD5361-EB56-98D6-F7A5-CE35D1ED8042}"/>
              </a:ext>
            </a:extLst>
          </p:cNvPr>
          <p:cNvCxnSpPr>
            <a:cxnSpLocks/>
            <a:endCxn id="58" idx="7"/>
          </p:cNvCxnSpPr>
          <p:nvPr/>
        </p:nvCxnSpPr>
        <p:spPr>
          <a:xfrm flipV="1">
            <a:off x="2850963" y="2014359"/>
            <a:ext cx="989378" cy="2345732"/>
          </a:xfrm>
          <a:prstGeom prst="straightConnector1">
            <a:avLst/>
          </a:prstGeom>
          <a:ln w="3175" cap="rnd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3D29B7A-CF1D-6E84-F540-672388016CF8}"/>
              </a:ext>
            </a:extLst>
          </p:cNvPr>
          <p:cNvSpPr txBox="1"/>
          <p:nvPr/>
        </p:nvSpPr>
        <p:spPr>
          <a:xfrm>
            <a:off x="182784" y="876417"/>
            <a:ext cx="3063445" cy="318735"/>
          </a:xfrm>
          <a:prstGeom prst="rect">
            <a:avLst/>
          </a:prstGeom>
          <a:noFill/>
        </p:spPr>
        <p:txBody>
          <a:bodyPr wrap="square" lIns="35209" tIns="0" rIns="0" bIns="0" rtlCol="0">
            <a:noAutofit/>
          </a:bodyPr>
          <a:lstStyle/>
          <a:p>
            <a:pPr defTabSz="894203">
              <a:defRPr/>
            </a:pPr>
            <a:r>
              <a:rPr lang="ko-KR" altLang="en-US" sz="1389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anose="020B0604020202020204" pitchFamily="34" charset="0"/>
              </a:rPr>
              <a:t>① 고위험 단위작업 </a:t>
            </a:r>
            <a:r>
              <a:rPr lang="en-US" altLang="ko-KR" sz="1389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anose="020B0604020202020204" pitchFamily="34" charset="0"/>
              </a:rPr>
              <a:t>(25</a:t>
            </a:r>
            <a:r>
              <a:rPr lang="ko-KR" altLang="en-US" sz="1389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anose="020B0604020202020204" pitchFamily="34" charset="0"/>
              </a:rPr>
              <a:t>종</a:t>
            </a:r>
            <a:r>
              <a:rPr lang="en-US" altLang="ko-KR" sz="1389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anose="020B0604020202020204" pitchFamily="34" charset="0"/>
              </a:rPr>
              <a:t>)</a:t>
            </a:r>
            <a:endParaRPr lang="ko-KR" altLang="en-US" sz="1389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/>
              </a:solidFill>
              <a:latin typeface="현대하모니 L" panose="02020603020101020101" pitchFamily="18" charset="-127"/>
              <a:ea typeface="현대하모니 L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904608-A090-D9CE-62C9-7AA65485D821}"/>
              </a:ext>
            </a:extLst>
          </p:cNvPr>
          <p:cNvSpPr txBox="1"/>
          <p:nvPr/>
        </p:nvSpPr>
        <p:spPr>
          <a:xfrm>
            <a:off x="3820487" y="876417"/>
            <a:ext cx="2965573" cy="318735"/>
          </a:xfrm>
          <a:prstGeom prst="rect">
            <a:avLst/>
          </a:prstGeom>
          <a:noFill/>
        </p:spPr>
        <p:txBody>
          <a:bodyPr wrap="square" lIns="35209" tIns="0" rIns="0" bIns="0" rtlCol="0">
            <a:noAutofit/>
          </a:bodyPr>
          <a:lstStyle/>
          <a:p>
            <a:pPr defTabSz="894203">
              <a:defRPr/>
            </a:pPr>
            <a:r>
              <a:rPr lang="ko-KR" altLang="en-US" sz="1389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anose="020B0604020202020204" pitchFamily="34" charset="0"/>
              </a:rPr>
              <a:t>② </a:t>
            </a:r>
            <a:r>
              <a:rPr lang="en-US" altLang="ko-KR" sz="1389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anose="020B0604020202020204" pitchFamily="34" charset="0"/>
              </a:rPr>
              <a:t>10</a:t>
            </a:r>
            <a:r>
              <a:rPr lang="ko-KR" altLang="en-US" sz="1389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anose="020B0604020202020204" pitchFamily="34" charset="0"/>
              </a:rPr>
              <a:t>대 사망사고 다발 작업 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2F95430-08D3-D9B1-A519-1D121C7CA0B5}"/>
              </a:ext>
            </a:extLst>
          </p:cNvPr>
          <p:cNvSpPr/>
          <p:nvPr/>
        </p:nvSpPr>
        <p:spPr>
          <a:xfrm>
            <a:off x="186963" y="1243841"/>
            <a:ext cx="2664000" cy="272286"/>
          </a:xfrm>
          <a:prstGeom prst="rect">
            <a:avLst/>
          </a:prstGeom>
          <a:pattFill prst="pct50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 anchorCtr="0"/>
          <a:lstStyle/>
          <a:p>
            <a:pPr eaLnBrk="0" latinLnBrk="0" hangingPunct="0"/>
            <a:r>
              <a:rPr lang="en-US" altLang="ko-KR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01) </a:t>
            </a:r>
            <a:r>
              <a:rPr lang="ko-KR" altLang="en-US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자재 하역</a:t>
            </a:r>
            <a:r>
              <a:rPr lang="en-US" altLang="ko-KR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·</a:t>
            </a:r>
            <a:r>
              <a:rPr lang="ko-KR" altLang="en-US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양중</a:t>
            </a:r>
            <a:r>
              <a:rPr lang="en-US" altLang="ko-KR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·</a:t>
            </a:r>
            <a:r>
              <a:rPr lang="ko-KR" altLang="en-US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운반 작업</a:t>
            </a:r>
            <a:r>
              <a:rPr lang="en-US" altLang="ko-KR" sz="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(</a:t>
            </a:r>
            <a:r>
              <a:rPr lang="ko-KR" altLang="en-US" sz="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이동식 크레인</a:t>
            </a:r>
            <a:r>
              <a:rPr lang="en-US" altLang="ko-KR" sz="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FFFFCC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지게차</a:t>
            </a:r>
            <a:r>
              <a:rPr lang="en-US" altLang="ko-KR" sz="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굴착기</a:t>
            </a:r>
            <a:r>
              <a:rPr lang="en-US" altLang="ko-KR" sz="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)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F267026-1E61-5017-2EC1-3F54FD060104}"/>
              </a:ext>
            </a:extLst>
          </p:cNvPr>
          <p:cNvSpPr/>
          <p:nvPr/>
        </p:nvSpPr>
        <p:spPr>
          <a:xfrm>
            <a:off x="186963" y="1575069"/>
            <a:ext cx="2664000" cy="272286"/>
          </a:xfrm>
          <a:prstGeom prst="rect">
            <a:avLst/>
          </a:prstGeom>
          <a:pattFill prst="pct50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 anchorCtr="0"/>
          <a:lstStyle/>
          <a:p>
            <a:pPr eaLnBrk="0" latinLnBrk="0" hangingPunct="0"/>
            <a:r>
              <a:rPr lang="en-US" altLang="ko-KR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02) </a:t>
            </a:r>
            <a:r>
              <a:rPr lang="ko-KR" altLang="en-US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타워크레인 설치</a:t>
            </a:r>
            <a:r>
              <a:rPr lang="en-US" altLang="ko-KR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·</a:t>
            </a:r>
            <a:r>
              <a:rPr lang="ko-KR" altLang="en-US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인상</a:t>
            </a:r>
            <a:r>
              <a:rPr lang="en-US" altLang="ko-KR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·</a:t>
            </a:r>
            <a:r>
              <a:rPr lang="ko-KR" altLang="en-US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해체 작업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ECCBDAE-75CD-FDCE-6885-07773D4C6063}"/>
              </a:ext>
            </a:extLst>
          </p:cNvPr>
          <p:cNvSpPr/>
          <p:nvPr/>
        </p:nvSpPr>
        <p:spPr>
          <a:xfrm>
            <a:off x="186963" y="1906297"/>
            <a:ext cx="2664000" cy="272286"/>
          </a:xfrm>
          <a:prstGeom prst="rect">
            <a:avLst/>
          </a:prstGeom>
          <a:pattFill prst="pct50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 anchorCtr="0"/>
          <a:lstStyle/>
          <a:p>
            <a:pPr eaLnBrk="0" latinLnBrk="0" hangingPunct="0"/>
            <a:r>
              <a:rPr lang="en-US" altLang="ko-KR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FFFFCC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03) </a:t>
            </a:r>
            <a:r>
              <a:rPr lang="ko-KR" altLang="en-US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FFFFCC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호이스트 설치</a:t>
            </a:r>
            <a:r>
              <a:rPr lang="en-US" altLang="ko-KR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FFFFCC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·</a:t>
            </a:r>
            <a:r>
              <a:rPr lang="ko-KR" altLang="en-US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FFFFCC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인상</a:t>
            </a:r>
            <a:r>
              <a:rPr lang="en-US" altLang="ko-KR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FFFFCC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·</a:t>
            </a:r>
            <a:r>
              <a:rPr lang="ko-KR" altLang="en-US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FFFFCC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해체 작업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EBEA0F0-5782-F623-FCFD-E4BD3BA7574B}"/>
              </a:ext>
            </a:extLst>
          </p:cNvPr>
          <p:cNvSpPr/>
          <p:nvPr/>
        </p:nvSpPr>
        <p:spPr>
          <a:xfrm>
            <a:off x="186963" y="2568754"/>
            <a:ext cx="2664000" cy="272286"/>
          </a:xfrm>
          <a:prstGeom prst="rect">
            <a:avLst/>
          </a:prstGeom>
          <a:pattFill prst="pct50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 anchorCtr="0"/>
          <a:lstStyle/>
          <a:p>
            <a:pPr eaLnBrk="0" hangingPunct="0"/>
            <a:r>
              <a:rPr lang="en-US" altLang="ko-KR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FFFFCC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05) </a:t>
            </a:r>
            <a:r>
              <a:rPr lang="ko-KR" altLang="en-US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FFFFCC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고소작업차 작업</a:t>
            </a:r>
            <a:r>
              <a:rPr lang="en-US" altLang="ko-KR" sz="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FFFFCC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(</a:t>
            </a:r>
            <a:r>
              <a:rPr lang="ko-KR" altLang="en-US" sz="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FFFFCC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스카이 限</a:t>
            </a:r>
            <a:r>
              <a:rPr lang="en-US" altLang="ko-KR" sz="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FFFFCC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)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A58BF8E-C0C2-3720-9D51-8D0AE75175C5}"/>
              </a:ext>
            </a:extLst>
          </p:cNvPr>
          <p:cNvSpPr/>
          <p:nvPr/>
        </p:nvSpPr>
        <p:spPr>
          <a:xfrm>
            <a:off x="186963" y="3231210"/>
            <a:ext cx="2664000" cy="272286"/>
          </a:xfrm>
          <a:prstGeom prst="rect">
            <a:avLst/>
          </a:prstGeom>
          <a:pattFill prst="pct50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 anchorCtr="0"/>
          <a:lstStyle/>
          <a:p>
            <a:pPr eaLnBrk="0" latinLnBrk="0" hangingPunct="0"/>
            <a:r>
              <a:rPr lang="en-US" altLang="ko-KR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FFFFCC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07) </a:t>
            </a:r>
            <a:r>
              <a:rPr lang="ko-KR" altLang="en-US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FFFFCC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발파작업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4EDA388-3024-E88E-4336-639D559641D7}"/>
              </a:ext>
            </a:extLst>
          </p:cNvPr>
          <p:cNvSpPr/>
          <p:nvPr/>
        </p:nvSpPr>
        <p:spPr>
          <a:xfrm>
            <a:off x="186963" y="2237525"/>
            <a:ext cx="2664000" cy="272286"/>
          </a:xfrm>
          <a:prstGeom prst="rect">
            <a:avLst/>
          </a:prstGeom>
          <a:pattFill prst="pct50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 anchorCtr="0"/>
          <a:lstStyle/>
          <a:p>
            <a:pPr eaLnBrk="0" latinLnBrk="0" hangingPunct="0"/>
            <a:r>
              <a:rPr lang="en-US" altLang="ko-KR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FFFFCC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04) </a:t>
            </a:r>
            <a:r>
              <a:rPr lang="ko-KR" altLang="en-US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FFFFCC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밀폐공간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BB9C1F3-5130-4A97-91F5-9BF4AB909F9D}"/>
              </a:ext>
            </a:extLst>
          </p:cNvPr>
          <p:cNvSpPr/>
          <p:nvPr/>
        </p:nvSpPr>
        <p:spPr>
          <a:xfrm>
            <a:off x="186963" y="2899982"/>
            <a:ext cx="2664000" cy="272286"/>
          </a:xfrm>
          <a:prstGeom prst="rect">
            <a:avLst/>
          </a:prstGeom>
          <a:pattFill prst="pct50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 anchorCtr="0"/>
          <a:lstStyle/>
          <a:p>
            <a:pPr eaLnBrk="0" latinLnBrk="0" hangingPunct="0"/>
            <a:r>
              <a:rPr lang="en-US" altLang="ko-KR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FFFFCC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06) </a:t>
            </a:r>
            <a:r>
              <a:rPr lang="ko-KR" altLang="en-US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FFFFCC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용접</a:t>
            </a:r>
            <a:r>
              <a:rPr lang="en-US" altLang="ko-KR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FFFFCC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·</a:t>
            </a:r>
            <a:r>
              <a:rPr lang="ko-KR" altLang="en-US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FFFFCC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용단 작업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138A4A1-AD72-C3B0-6417-4C8269045682}"/>
              </a:ext>
            </a:extLst>
          </p:cNvPr>
          <p:cNvSpPr/>
          <p:nvPr/>
        </p:nvSpPr>
        <p:spPr>
          <a:xfrm>
            <a:off x="186963" y="3562438"/>
            <a:ext cx="2664000" cy="272286"/>
          </a:xfrm>
          <a:prstGeom prst="rect">
            <a:avLst/>
          </a:prstGeom>
          <a:pattFill prst="pct50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 anchorCtr="0"/>
          <a:lstStyle/>
          <a:p>
            <a:pPr eaLnBrk="0" latinLnBrk="0" hangingPunct="0"/>
            <a:r>
              <a:rPr lang="en-US" altLang="ko-KR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FFFFCC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08) </a:t>
            </a:r>
            <a:r>
              <a:rPr lang="ko-KR" altLang="en-US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FFFFCC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항타기 설치</a:t>
            </a:r>
            <a:r>
              <a:rPr lang="en-US" altLang="ko-KR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FFFFCC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·</a:t>
            </a:r>
            <a:r>
              <a:rPr lang="ko-KR" altLang="en-US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FFFFCC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해체 작업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EC78292-7789-E3D8-6F90-D71A8707CF16}"/>
              </a:ext>
            </a:extLst>
          </p:cNvPr>
          <p:cNvSpPr/>
          <p:nvPr/>
        </p:nvSpPr>
        <p:spPr>
          <a:xfrm>
            <a:off x="186963" y="3893666"/>
            <a:ext cx="2664000" cy="272286"/>
          </a:xfrm>
          <a:prstGeom prst="rect">
            <a:avLst/>
          </a:prstGeom>
          <a:pattFill prst="pct50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 anchorCtr="0"/>
          <a:lstStyle/>
          <a:p>
            <a:pPr eaLnBrk="0" latinLnBrk="0" hangingPunct="0"/>
            <a:r>
              <a:rPr lang="en-US" altLang="ko-KR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09) 2m </a:t>
            </a:r>
            <a:r>
              <a:rPr lang="ko-KR" altLang="en-US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이상 </a:t>
            </a:r>
            <a:r>
              <a:rPr lang="ko-KR" altLang="en-US" sz="9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흙막이</a:t>
            </a:r>
            <a:r>
              <a:rPr lang="ko-KR" altLang="en-US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 가시설 설치</a:t>
            </a:r>
            <a:r>
              <a:rPr lang="en-US" altLang="ko-KR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·</a:t>
            </a:r>
            <a:r>
              <a:rPr lang="ko-KR" altLang="en-US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해체 작업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7E62FD0-E50F-05C8-6B28-819119152B2B}"/>
              </a:ext>
            </a:extLst>
          </p:cNvPr>
          <p:cNvSpPr/>
          <p:nvPr/>
        </p:nvSpPr>
        <p:spPr>
          <a:xfrm>
            <a:off x="186963" y="4224894"/>
            <a:ext cx="2664000" cy="272286"/>
          </a:xfrm>
          <a:prstGeom prst="rect">
            <a:avLst/>
          </a:prstGeom>
          <a:pattFill prst="pct50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 anchorCtr="0"/>
          <a:lstStyle/>
          <a:p>
            <a:pPr eaLnBrk="0" latinLnBrk="0" hangingPunct="0"/>
            <a:r>
              <a:rPr lang="en-US" altLang="ko-KR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10) 2m </a:t>
            </a:r>
            <a:r>
              <a:rPr lang="ko-KR" altLang="en-US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이상 굴착작업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920583A-DFC8-5801-98E5-8E4C123D8956}"/>
              </a:ext>
            </a:extLst>
          </p:cNvPr>
          <p:cNvSpPr/>
          <p:nvPr/>
        </p:nvSpPr>
        <p:spPr>
          <a:xfrm>
            <a:off x="186963" y="4556122"/>
            <a:ext cx="2664000" cy="272286"/>
          </a:xfrm>
          <a:prstGeom prst="rect">
            <a:avLst/>
          </a:prstGeom>
          <a:pattFill prst="pct50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 anchorCtr="0"/>
          <a:lstStyle/>
          <a:p>
            <a:pPr eaLnBrk="0" latinLnBrk="0" hangingPunct="0"/>
            <a:r>
              <a:rPr lang="en-US" altLang="ko-KR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11) </a:t>
            </a:r>
            <a:r>
              <a:rPr lang="ko-KR" altLang="en-US" sz="9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터널굴착</a:t>
            </a:r>
            <a:endParaRPr lang="ko-KR" altLang="en-US" sz="9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highlight>
                <a:srgbClr val="CCECFF"/>
              </a:highlight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22DBD6A-6797-0606-F7B9-1732E79EF8D8}"/>
              </a:ext>
            </a:extLst>
          </p:cNvPr>
          <p:cNvSpPr/>
          <p:nvPr/>
        </p:nvSpPr>
        <p:spPr>
          <a:xfrm>
            <a:off x="186963" y="4887350"/>
            <a:ext cx="2664000" cy="272286"/>
          </a:xfrm>
          <a:prstGeom prst="rect">
            <a:avLst/>
          </a:prstGeom>
          <a:pattFill prst="pct50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 anchorCtr="0"/>
          <a:lstStyle/>
          <a:p>
            <a:pPr eaLnBrk="0" hangingPunct="0"/>
            <a:r>
              <a:rPr lang="en-US" altLang="ko-KR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12) 5m </a:t>
            </a:r>
            <a:r>
              <a:rPr lang="ko-KR" altLang="en-US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이상 비계 설치</a:t>
            </a:r>
            <a:r>
              <a:rPr lang="en-US" altLang="ko-KR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·</a:t>
            </a:r>
            <a:r>
              <a:rPr lang="ko-KR" altLang="en-US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해체 작업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DE2868C-99E2-AE6C-4B94-D86932164371}"/>
              </a:ext>
            </a:extLst>
          </p:cNvPr>
          <p:cNvSpPr/>
          <p:nvPr/>
        </p:nvSpPr>
        <p:spPr>
          <a:xfrm>
            <a:off x="186963" y="5218579"/>
            <a:ext cx="2664000" cy="272286"/>
          </a:xfrm>
          <a:prstGeom prst="rect">
            <a:avLst/>
          </a:prstGeom>
          <a:pattFill prst="pct50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 anchorCtr="0"/>
          <a:lstStyle/>
          <a:p>
            <a:pPr eaLnBrk="0" latinLnBrk="0" hangingPunct="0"/>
            <a:r>
              <a:rPr lang="en-US" altLang="ko-KR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13) 5m </a:t>
            </a:r>
            <a:r>
              <a:rPr lang="ko-KR" altLang="en-US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이상 </a:t>
            </a:r>
            <a:r>
              <a:rPr lang="ko-KR" altLang="en-US" sz="9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동바리</a:t>
            </a:r>
            <a:r>
              <a:rPr lang="ko-KR" altLang="en-US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 설치</a:t>
            </a:r>
            <a:r>
              <a:rPr lang="en-US" altLang="ko-KR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·</a:t>
            </a:r>
            <a:r>
              <a:rPr lang="ko-KR" altLang="en-US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해체 작업 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37BE340-80C3-0A18-DC72-9FBEAEF118CC}"/>
              </a:ext>
            </a:extLst>
          </p:cNvPr>
          <p:cNvSpPr/>
          <p:nvPr/>
        </p:nvSpPr>
        <p:spPr>
          <a:xfrm>
            <a:off x="186963" y="5549807"/>
            <a:ext cx="2664000" cy="272286"/>
          </a:xfrm>
          <a:prstGeom prst="rect">
            <a:avLst/>
          </a:prstGeom>
          <a:pattFill prst="pct50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 anchorCtr="0"/>
          <a:lstStyle/>
          <a:p>
            <a:pPr eaLnBrk="0" latinLnBrk="0" hangingPunct="0"/>
            <a:r>
              <a:rPr lang="en-US" altLang="ko-KR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FFFFCC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14) 5m </a:t>
            </a:r>
            <a:r>
              <a:rPr lang="ko-KR" altLang="en-US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FFFFCC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이상 거푸집 설치</a:t>
            </a:r>
            <a:r>
              <a:rPr lang="en-US" altLang="ko-KR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FFFFCC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·</a:t>
            </a:r>
            <a:r>
              <a:rPr lang="ko-KR" altLang="en-US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FFFFCC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해체 작업 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F414BDF-A369-03B0-93B7-28613A47D13E}"/>
              </a:ext>
            </a:extLst>
          </p:cNvPr>
          <p:cNvSpPr/>
          <p:nvPr/>
        </p:nvSpPr>
        <p:spPr>
          <a:xfrm>
            <a:off x="186963" y="5881035"/>
            <a:ext cx="2664000" cy="272286"/>
          </a:xfrm>
          <a:prstGeom prst="rect">
            <a:avLst/>
          </a:prstGeom>
          <a:pattFill prst="pct50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 anchorCtr="0"/>
          <a:lstStyle/>
          <a:p>
            <a:pPr eaLnBrk="0" latinLnBrk="0" hangingPunct="0"/>
            <a:r>
              <a:rPr lang="en-US" altLang="ko-KR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FFFFCC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15) </a:t>
            </a:r>
            <a:r>
              <a:rPr lang="ko-KR" altLang="en-US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FFFFCC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콘크리트 타설 작업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8F1DAD6-4379-4012-FF83-9C14383C1C00}"/>
              </a:ext>
            </a:extLst>
          </p:cNvPr>
          <p:cNvSpPr/>
          <p:nvPr/>
        </p:nvSpPr>
        <p:spPr>
          <a:xfrm>
            <a:off x="186963" y="6874719"/>
            <a:ext cx="2664000" cy="272286"/>
          </a:xfrm>
          <a:prstGeom prst="rect">
            <a:avLst/>
          </a:prstGeom>
          <a:pattFill prst="pct50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 anchorCtr="0"/>
          <a:lstStyle/>
          <a:p>
            <a:pPr eaLnBrk="0" latinLnBrk="0" hangingPunct="0"/>
            <a:r>
              <a:rPr lang="en-US" altLang="ko-KR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18) PC</a:t>
            </a:r>
            <a:r>
              <a:rPr lang="ko-KR" altLang="en-US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조립 작업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C78C8C6-8434-D59A-B9E7-DF656BAD80E2}"/>
              </a:ext>
            </a:extLst>
          </p:cNvPr>
          <p:cNvSpPr/>
          <p:nvPr/>
        </p:nvSpPr>
        <p:spPr>
          <a:xfrm>
            <a:off x="186963" y="7205947"/>
            <a:ext cx="2664000" cy="272286"/>
          </a:xfrm>
          <a:prstGeom prst="rect">
            <a:avLst/>
          </a:prstGeom>
          <a:pattFill prst="pct50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 anchorCtr="0"/>
          <a:lstStyle/>
          <a:p>
            <a:pPr eaLnBrk="0" latinLnBrk="0" hangingPunct="0"/>
            <a:r>
              <a:rPr lang="en-US" altLang="ko-KR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19) </a:t>
            </a:r>
            <a:r>
              <a:rPr lang="ko-KR" altLang="en-US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곤돌라 사용 작업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C715493-9EDD-605A-A2C0-C6A499F5B80B}"/>
              </a:ext>
            </a:extLst>
          </p:cNvPr>
          <p:cNvSpPr/>
          <p:nvPr/>
        </p:nvSpPr>
        <p:spPr>
          <a:xfrm>
            <a:off x="186963" y="6543491"/>
            <a:ext cx="2664000" cy="272286"/>
          </a:xfrm>
          <a:prstGeom prst="rect">
            <a:avLst/>
          </a:prstGeom>
          <a:pattFill prst="pct50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 anchorCtr="0"/>
          <a:lstStyle/>
          <a:p>
            <a:pPr eaLnBrk="0" latinLnBrk="0" hangingPunct="0"/>
            <a:r>
              <a:rPr lang="en-US" altLang="ko-KR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17) </a:t>
            </a:r>
            <a:r>
              <a:rPr lang="ko-KR" altLang="en-US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철골 작업</a:t>
            </a:r>
            <a:r>
              <a:rPr lang="ko-KR" altLang="en-US" sz="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en-US" altLang="ko-KR" sz="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(</a:t>
            </a:r>
            <a:r>
              <a:rPr lang="ko-KR" altLang="en-US" sz="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지붕 판넬</a:t>
            </a:r>
            <a:r>
              <a:rPr lang="en-US" altLang="ko-KR" sz="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6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데크</a:t>
            </a:r>
            <a:r>
              <a:rPr lang="ko-KR" altLang="en-US" sz="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 설치 포함</a:t>
            </a:r>
            <a:r>
              <a:rPr lang="en-US" altLang="ko-KR" sz="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)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2F05798-E7C0-D94C-CC9C-433AD26547AB}"/>
              </a:ext>
            </a:extLst>
          </p:cNvPr>
          <p:cNvSpPr/>
          <p:nvPr/>
        </p:nvSpPr>
        <p:spPr>
          <a:xfrm>
            <a:off x="186963" y="6212263"/>
            <a:ext cx="2664000" cy="272286"/>
          </a:xfrm>
          <a:prstGeom prst="rect">
            <a:avLst/>
          </a:prstGeom>
          <a:pattFill prst="pct50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 anchorCtr="0"/>
          <a:lstStyle/>
          <a:p>
            <a:pPr eaLnBrk="0" latinLnBrk="0" hangingPunct="0"/>
            <a:r>
              <a:rPr lang="en-US" altLang="ko-KR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16) </a:t>
            </a:r>
            <a:r>
              <a:rPr lang="ko-KR" altLang="en-US" sz="9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작업발판</a:t>
            </a:r>
            <a:r>
              <a:rPr lang="ko-KR" altLang="en-US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 일체형 거푸집</a:t>
            </a:r>
            <a:r>
              <a:rPr lang="en-US" altLang="ko-KR" sz="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(</a:t>
            </a:r>
            <a:r>
              <a:rPr lang="ko-KR" altLang="en-US" sz="6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갱폼</a:t>
            </a:r>
            <a:r>
              <a:rPr lang="en-US" altLang="ko-KR" sz="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,RCS,SWC </a:t>
            </a:r>
            <a:r>
              <a:rPr lang="ko-KR" altLang="en-US" sz="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등</a:t>
            </a:r>
            <a:r>
              <a:rPr lang="en-US" altLang="ko-KR" sz="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) </a:t>
            </a:r>
            <a:r>
              <a:rPr lang="ko-KR" altLang="en-US" sz="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설치</a:t>
            </a:r>
            <a:r>
              <a:rPr lang="en-US" altLang="ko-KR" sz="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·</a:t>
            </a:r>
            <a:r>
              <a:rPr lang="ko-KR" altLang="en-US" sz="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인상</a:t>
            </a:r>
            <a:r>
              <a:rPr lang="en-US" altLang="ko-KR" sz="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·</a:t>
            </a:r>
            <a:r>
              <a:rPr lang="ko-KR" altLang="en-US" sz="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해체 작업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8BE706D-8268-E429-23E2-97E0BF3C08AF}"/>
              </a:ext>
            </a:extLst>
          </p:cNvPr>
          <p:cNvSpPr/>
          <p:nvPr/>
        </p:nvSpPr>
        <p:spPr>
          <a:xfrm>
            <a:off x="186963" y="7537176"/>
            <a:ext cx="2664000" cy="272286"/>
          </a:xfrm>
          <a:prstGeom prst="rect">
            <a:avLst/>
          </a:prstGeom>
          <a:pattFill prst="pct50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 anchorCtr="0"/>
          <a:lstStyle/>
          <a:p>
            <a:pPr eaLnBrk="0" latinLnBrk="0" hangingPunct="0"/>
            <a:r>
              <a:rPr lang="en-US" altLang="ko-KR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20) </a:t>
            </a:r>
            <a:r>
              <a:rPr lang="ko-KR" altLang="en-US" sz="9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달비계</a:t>
            </a:r>
            <a:r>
              <a:rPr lang="ko-KR" altLang="en-US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 사용 작업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5DAD6D0-64F8-8A54-CACA-615323E0970C}"/>
              </a:ext>
            </a:extLst>
          </p:cNvPr>
          <p:cNvSpPr/>
          <p:nvPr/>
        </p:nvSpPr>
        <p:spPr>
          <a:xfrm>
            <a:off x="186963" y="7868404"/>
            <a:ext cx="2664000" cy="272286"/>
          </a:xfrm>
          <a:prstGeom prst="rect">
            <a:avLst/>
          </a:prstGeom>
          <a:pattFill prst="pct50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 anchorCtr="0"/>
          <a:lstStyle/>
          <a:p>
            <a:pPr eaLnBrk="0" latinLnBrk="0" hangingPunct="0"/>
            <a:r>
              <a:rPr lang="en-US" altLang="ko-KR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FFFFCC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21) </a:t>
            </a:r>
            <a:r>
              <a:rPr lang="ko-KR" altLang="en-US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FFFFCC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윈치 사용 작업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90DC7B4-1B7A-9E52-A882-6C6B2C3BCC68}"/>
              </a:ext>
            </a:extLst>
          </p:cNvPr>
          <p:cNvSpPr/>
          <p:nvPr/>
        </p:nvSpPr>
        <p:spPr>
          <a:xfrm>
            <a:off x="186963" y="8199632"/>
            <a:ext cx="2664000" cy="272286"/>
          </a:xfrm>
          <a:prstGeom prst="rect">
            <a:avLst/>
          </a:prstGeom>
          <a:pattFill prst="pct50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 anchorCtr="0"/>
          <a:lstStyle/>
          <a:p>
            <a:pPr eaLnBrk="0" latinLnBrk="0" hangingPunct="0"/>
            <a:r>
              <a:rPr lang="en-US" altLang="ko-KR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22) </a:t>
            </a:r>
            <a:r>
              <a:rPr lang="ko-KR" altLang="en-US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교량 거치 작업 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679EC1D-05DD-5C0C-0B7D-A4AC63DC2409}"/>
              </a:ext>
            </a:extLst>
          </p:cNvPr>
          <p:cNvSpPr/>
          <p:nvPr/>
        </p:nvSpPr>
        <p:spPr>
          <a:xfrm>
            <a:off x="186963" y="8530860"/>
            <a:ext cx="2664000" cy="272286"/>
          </a:xfrm>
          <a:prstGeom prst="rect">
            <a:avLst/>
          </a:prstGeom>
          <a:pattFill prst="pct50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 anchorCtr="0"/>
          <a:lstStyle/>
          <a:p>
            <a:pPr eaLnBrk="0" latinLnBrk="0" hangingPunct="0"/>
            <a:r>
              <a:rPr lang="en-US" altLang="ko-KR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FFFFCC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23) </a:t>
            </a:r>
            <a:r>
              <a:rPr lang="ko-KR" altLang="en-US" sz="9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FFFFCC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특고압</a:t>
            </a:r>
            <a:r>
              <a:rPr lang="en-US" altLang="ko-KR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FFFFCC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/</a:t>
            </a:r>
            <a:r>
              <a:rPr lang="ko-KR" altLang="en-US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FFFFCC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고압</a:t>
            </a:r>
            <a:r>
              <a:rPr lang="en-US" altLang="ko-KR" sz="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FFFFCC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(1000V </a:t>
            </a:r>
            <a:r>
              <a:rPr lang="ko-KR" altLang="en-US" sz="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FFFFCC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초과</a:t>
            </a:r>
            <a:r>
              <a:rPr lang="en-US" altLang="ko-KR" sz="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FFFFCC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)</a:t>
            </a:r>
            <a:r>
              <a:rPr lang="en-US" altLang="ko-KR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FFFFCC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ko-KR" altLang="en-US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FFFFCC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수전</a:t>
            </a:r>
            <a:r>
              <a:rPr lang="en-US" altLang="ko-KR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FFFFCC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·</a:t>
            </a:r>
            <a:r>
              <a:rPr lang="ko-KR" altLang="en-US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FFFFCC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이설</a:t>
            </a:r>
            <a:r>
              <a:rPr lang="en-US" altLang="ko-KR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FFFFCC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 ·</a:t>
            </a:r>
            <a:r>
              <a:rPr lang="ko-KR" altLang="en-US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FFFFCC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보수공사</a:t>
            </a:r>
            <a:r>
              <a:rPr lang="en-US" altLang="ko-KR" sz="900" baseline="30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FFFFCC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*</a:t>
            </a:r>
            <a:endParaRPr lang="ko-KR" altLang="en-US" sz="900" baseline="300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highlight>
                <a:srgbClr val="FFFFCC"/>
              </a:highlight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1C53BB3-BAA5-4F2E-DDFC-7A01A6590506}"/>
              </a:ext>
            </a:extLst>
          </p:cNvPr>
          <p:cNvSpPr/>
          <p:nvPr/>
        </p:nvSpPr>
        <p:spPr>
          <a:xfrm>
            <a:off x="186963" y="8862088"/>
            <a:ext cx="2664000" cy="272286"/>
          </a:xfrm>
          <a:prstGeom prst="rect">
            <a:avLst/>
          </a:prstGeom>
          <a:pattFill prst="pct50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 anchorCtr="0"/>
          <a:lstStyle/>
          <a:p>
            <a:pPr eaLnBrk="0" latinLnBrk="0" hangingPunct="0"/>
            <a:r>
              <a:rPr lang="en-US" altLang="ko-KR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24) </a:t>
            </a:r>
            <a:r>
              <a:rPr lang="ko-KR" altLang="en-US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CCEC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건축물 철거 작업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77FB799-0DAA-16F0-77D0-E3B35E3273AB}"/>
              </a:ext>
            </a:extLst>
          </p:cNvPr>
          <p:cNvSpPr/>
          <p:nvPr/>
        </p:nvSpPr>
        <p:spPr>
          <a:xfrm>
            <a:off x="186963" y="9193316"/>
            <a:ext cx="2664000" cy="272286"/>
          </a:xfrm>
          <a:prstGeom prst="rect">
            <a:avLst/>
          </a:prstGeom>
          <a:pattFill prst="pct50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 anchorCtr="0"/>
          <a:lstStyle/>
          <a:p>
            <a:pPr eaLnBrk="0" latinLnBrk="0" hangingPunct="0"/>
            <a:r>
              <a:rPr lang="en-US" altLang="ko-KR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FFFFCC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25) </a:t>
            </a:r>
            <a:r>
              <a:rPr lang="ko-KR" altLang="en-US" sz="9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FFFFCC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석면 철거 작업</a:t>
            </a: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A286072D-7197-B9BD-55F5-FC5A13D0200D}"/>
              </a:ext>
            </a:extLst>
          </p:cNvPr>
          <p:cNvCxnSpPr>
            <a:cxnSpLocks/>
          </p:cNvCxnSpPr>
          <p:nvPr/>
        </p:nvCxnSpPr>
        <p:spPr>
          <a:xfrm>
            <a:off x="2850963" y="1338943"/>
            <a:ext cx="940377" cy="716738"/>
          </a:xfrm>
          <a:prstGeom prst="straightConnector1">
            <a:avLst/>
          </a:prstGeom>
          <a:ln w="3175" cap="rnd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C0234CAD-A139-9660-0186-B9F15D0A9053}"/>
              </a:ext>
            </a:extLst>
          </p:cNvPr>
          <p:cNvCxnSpPr>
            <a:cxnSpLocks/>
          </p:cNvCxnSpPr>
          <p:nvPr/>
        </p:nvCxnSpPr>
        <p:spPr>
          <a:xfrm flipV="1">
            <a:off x="2850963" y="2835025"/>
            <a:ext cx="940377" cy="1174546"/>
          </a:xfrm>
          <a:prstGeom prst="straightConnector1">
            <a:avLst/>
          </a:prstGeom>
          <a:ln w="3175" cap="rnd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47FE7D77-F190-9535-9F30-60C511E64B5C}"/>
              </a:ext>
            </a:extLst>
          </p:cNvPr>
          <p:cNvCxnSpPr>
            <a:cxnSpLocks/>
          </p:cNvCxnSpPr>
          <p:nvPr/>
        </p:nvCxnSpPr>
        <p:spPr>
          <a:xfrm flipV="1">
            <a:off x="2850963" y="3614370"/>
            <a:ext cx="940377" cy="1062859"/>
          </a:xfrm>
          <a:prstGeom prst="straightConnector1">
            <a:avLst/>
          </a:prstGeom>
          <a:ln w="3175" cap="rnd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E1D482D9-0670-1EFE-566F-900F3F64DCC3}"/>
              </a:ext>
            </a:extLst>
          </p:cNvPr>
          <p:cNvCxnSpPr>
            <a:cxnSpLocks/>
          </p:cNvCxnSpPr>
          <p:nvPr/>
        </p:nvCxnSpPr>
        <p:spPr>
          <a:xfrm flipV="1">
            <a:off x="2850963" y="4393714"/>
            <a:ext cx="940377" cy="617343"/>
          </a:xfrm>
          <a:prstGeom prst="straightConnector1">
            <a:avLst/>
          </a:prstGeom>
          <a:ln w="3175" cap="rnd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6E355EC7-5985-35A0-736C-F48325B8C5AE}"/>
              </a:ext>
            </a:extLst>
          </p:cNvPr>
          <p:cNvCxnSpPr>
            <a:cxnSpLocks/>
          </p:cNvCxnSpPr>
          <p:nvPr/>
        </p:nvCxnSpPr>
        <p:spPr>
          <a:xfrm flipV="1">
            <a:off x="2850963" y="4393714"/>
            <a:ext cx="940377" cy="951172"/>
          </a:xfrm>
          <a:prstGeom prst="straightConnector1">
            <a:avLst/>
          </a:prstGeom>
          <a:ln w="3175" cap="rnd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6E795ABE-6859-8DFB-8B65-A8920F6E416F}"/>
              </a:ext>
            </a:extLst>
          </p:cNvPr>
          <p:cNvCxnSpPr>
            <a:cxnSpLocks/>
          </p:cNvCxnSpPr>
          <p:nvPr/>
        </p:nvCxnSpPr>
        <p:spPr>
          <a:xfrm flipV="1">
            <a:off x="2850963" y="5173059"/>
            <a:ext cx="940377" cy="1173313"/>
          </a:xfrm>
          <a:prstGeom prst="straightConnector1">
            <a:avLst/>
          </a:prstGeom>
          <a:ln w="3175" cap="rnd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15A88B08-849E-0E63-7137-44DE26F7B83F}"/>
              </a:ext>
            </a:extLst>
          </p:cNvPr>
          <p:cNvCxnSpPr>
            <a:cxnSpLocks/>
          </p:cNvCxnSpPr>
          <p:nvPr/>
        </p:nvCxnSpPr>
        <p:spPr>
          <a:xfrm flipV="1">
            <a:off x="2850963" y="5952403"/>
            <a:ext cx="940377" cy="1061626"/>
          </a:xfrm>
          <a:prstGeom prst="straightConnector1">
            <a:avLst/>
          </a:prstGeom>
          <a:ln w="3175" cap="rnd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23E2B71D-94DE-191D-9146-4543E5425D39}"/>
              </a:ext>
            </a:extLst>
          </p:cNvPr>
          <p:cNvCxnSpPr>
            <a:cxnSpLocks/>
          </p:cNvCxnSpPr>
          <p:nvPr/>
        </p:nvCxnSpPr>
        <p:spPr>
          <a:xfrm>
            <a:off x="2850963" y="6680200"/>
            <a:ext cx="940377" cy="51547"/>
          </a:xfrm>
          <a:prstGeom prst="straightConnector1">
            <a:avLst/>
          </a:prstGeom>
          <a:ln w="3175" cap="rnd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2C163513-FEAA-4F1B-9571-CC1A18D804A9}"/>
              </a:ext>
            </a:extLst>
          </p:cNvPr>
          <p:cNvCxnSpPr>
            <a:cxnSpLocks/>
          </p:cNvCxnSpPr>
          <p:nvPr/>
        </p:nvCxnSpPr>
        <p:spPr>
          <a:xfrm>
            <a:off x="2850963" y="7347858"/>
            <a:ext cx="940377" cy="163235"/>
          </a:xfrm>
          <a:prstGeom prst="straightConnector1">
            <a:avLst/>
          </a:prstGeom>
          <a:ln w="3175" cap="rnd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BE8F9788-125F-ACFC-B41F-F1ADE17B6A34}"/>
              </a:ext>
            </a:extLst>
          </p:cNvPr>
          <p:cNvCxnSpPr>
            <a:cxnSpLocks/>
          </p:cNvCxnSpPr>
          <p:nvPr/>
        </p:nvCxnSpPr>
        <p:spPr>
          <a:xfrm flipV="1">
            <a:off x="2850963" y="7511092"/>
            <a:ext cx="940377" cy="170594"/>
          </a:xfrm>
          <a:prstGeom prst="straightConnector1">
            <a:avLst/>
          </a:prstGeom>
          <a:ln w="3175" cap="rnd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85B3E7F4-E20F-BC4B-0D10-43095FC7DC17}"/>
              </a:ext>
            </a:extLst>
          </p:cNvPr>
          <p:cNvCxnSpPr>
            <a:cxnSpLocks/>
          </p:cNvCxnSpPr>
          <p:nvPr/>
        </p:nvCxnSpPr>
        <p:spPr>
          <a:xfrm flipV="1">
            <a:off x="2850963" y="8290437"/>
            <a:ext cx="940377" cy="58907"/>
          </a:xfrm>
          <a:prstGeom prst="straightConnector1">
            <a:avLst/>
          </a:prstGeom>
          <a:ln w="3175" cap="rnd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C26ED72A-A128-4CA8-7FAD-FBE662F73613}"/>
              </a:ext>
            </a:extLst>
          </p:cNvPr>
          <p:cNvCxnSpPr>
            <a:cxnSpLocks/>
          </p:cNvCxnSpPr>
          <p:nvPr/>
        </p:nvCxnSpPr>
        <p:spPr>
          <a:xfrm>
            <a:off x="2850963" y="9017000"/>
            <a:ext cx="940377" cy="52787"/>
          </a:xfrm>
          <a:prstGeom prst="straightConnector1">
            <a:avLst/>
          </a:prstGeom>
          <a:ln w="3175" cap="rnd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7" name="표 46">
            <a:extLst>
              <a:ext uri="{FF2B5EF4-FFF2-40B4-BE49-F238E27FC236}">
                <a16:creationId xmlns:a16="http://schemas.microsoft.com/office/drawing/2014/main" id="{85DD8A9F-F045-8B40-C14F-0BB3DD45E4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4392342"/>
              </p:ext>
            </p:extLst>
          </p:nvPr>
        </p:nvGraphicFramePr>
        <p:xfrm>
          <a:off x="3860387" y="1243841"/>
          <a:ext cx="2812448" cy="82217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6224">
                  <a:extLst>
                    <a:ext uri="{9D8B030D-6E8A-4147-A177-3AD203B41FA5}">
                      <a16:colId xmlns:a16="http://schemas.microsoft.com/office/drawing/2014/main" val="2553677503"/>
                    </a:ext>
                  </a:extLst>
                </a:gridCol>
                <a:gridCol w="236224">
                  <a:extLst>
                    <a:ext uri="{9D8B030D-6E8A-4147-A177-3AD203B41FA5}">
                      <a16:colId xmlns:a16="http://schemas.microsoft.com/office/drawing/2014/main" val="2338778660"/>
                    </a:ext>
                  </a:extLst>
                </a:gridCol>
                <a:gridCol w="2340000">
                  <a:extLst>
                    <a:ext uri="{9D8B030D-6E8A-4147-A177-3AD203B41FA5}">
                      <a16:colId xmlns:a16="http://schemas.microsoft.com/office/drawing/2014/main" val="3367003874"/>
                    </a:ext>
                  </a:extLst>
                </a:gridCol>
              </a:tblGrid>
              <a:tr h="42397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구분</a:t>
                      </a:r>
                      <a:endParaRPr lang="en-US" altLang="ko-KR" sz="1000" b="1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900" b="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고위험 단위작업</a:t>
                      </a:r>
                      <a:endParaRPr lang="en-US" altLang="ko-KR" sz="1000" b="1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0608980"/>
                  </a:ext>
                </a:extLst>
              </a:tr>
              <a:tr h="77977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ko-KR" altLang="en-US" sz="1000" b="0" i="0" u="none" strike="noStrike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공통</a:t>
                      </a:r>
                      <a:endParaRPr lang="en-US" altLang="ko-KR" sz="900" b="0" i="0" u="none" strike="noStrike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건설기계 사용 작업</a:t>
                      </a:r>
                      <a:br>
                        <a:rPr lang="en-US" altLang="ko-KR" sz="1000" b="0" i="0" u="none" strike="noStrike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</a:br>
                      <a:r>
                        <a:rPr lang="en-US" altLang="ko-KR" sz="800" b="0" i="0" u="none" strike="noStrike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ko-KR" altLang="en-US" sz="800" b="0" i="0" u="none" strike="noStrike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항타기</a:t>
                      </a:r>
                      <a:r>
                        <a:rPr lang="en-US" altLang="ko-KR" sz="800" b="0" i="0" u="none" strike="noStrike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 </a:t>
                      </a:r>
                      <a:r>
                        <a:rPr lang="ko-KR" altLang="en-US" sz="800" b="0" i="0" u="none" strike="noStrike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굴착기</a:t>
                      </a:r>
                      <a:r>
                        <a:rPr lang="en-US" altLang="ko-KR" sz="800" b="0" i="0" u="none" strike="noStrike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 </a:t>
                      </a:r>
                      <a:r>
                        <a:rPr lang="ko-KR" altLang="en-US" sz="800" b="0" i="0" u="none" strike="noStrike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이동식 크레인</a:t>
                      </a:r>
                      <a:r>
                        <a:rPr lang="en-US" altLang="ko-KR" sz="800" b="0" i="0" u="none" strike="noStrike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 CPB, T/C</a:t>
                      </a:r>
                      <a:r>
                        <a:rPr lang="ko-KR" altLang="en-US" sz="800" b="0" i="0" u="none" strike="noStrike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설치</a:t>
                      </a:r>
                      <a:r>
                        <a:rPr lang="en-US" altLang="ko-KR" sz="800" b="0" i="0" u="none" strike="noStrike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·</a:t>
                      </a:r>
                      <a:r>
                        <a:rPr lang="ko-KR" altLang="en-US" sz="800" b="0" i="0" u="none" strike="noStrike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해체</a:t>
                      </a:r>
                      <a:r>
                        <a:rPr lang="en-US" altLang="ko-KR" sz="800" b="0" i="0" u="none" strike="noStrike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endParaRPr lang="ko-KR" altLang="en-US" sz="1000" b="0" i="0" u="none" strike="noStrike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7344752"/>
                  </a:ext>
                </a:extLst>
              </a:tr>
              <a:tr h="77977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ko-KR" altLang="en-US" sz="1000" b="0" i="0" u="none" strike="noStrike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토공</a:t>
                      </a:r>
                      <a:endParaRPr lang="en-US" altLang="ko-KR" sz="900" b="0" i="0" u="none" strike="noStrike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000" b="0" i="0" u="none" strike="noStrike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2m </a:t>
                      </a:r>
                      <a:r>
                        <a:rPr lang="ko-KR" altLang="en-US" sz="1000" b="0" i="0" u="none" strike="noStrike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이상 </a:t>
                      </a:r>
                      <a:r>
                        <a:rPr lang="ko-KR" altLang="en-US" sz="1000" b="0" i="0" u="none" strike="noStrike" dirty="0" err="1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흙막이</a:t>
                      </a:r>
                      <a:r>
                        <a:rPr lang="ko-KR" altLang="en-US" sz="1000" b="0" i="0" u="none" strike="noStrike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가시설 설치</a:t>
                      </a:r>
                      <a:r>
                        <a:rPr lang="en-US" altLang="ko-KR" sz="1000" b="0" i="0" u="none" strike="noStrike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·</a:t>
                      </a:r>
                      <a:r>
                        <a:rPr lang="ko-KR" altLang="en-US" sz="1000" b="0" i="0" u="none" strike="noStrike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해체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7366384"/>
                  </a:ext>
                </a:extLst>
              </a:tr>
              <a:tr h="77977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  <a:endParaRPr lang="ko-KR" altLang="en-US" sz="1000" b="0" i="0" u="none" strike="noStrike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토공</a:t>
                      </a:r>
                      <a:endParaRPr lang="en-US" altLang="ko-KR" sz="900" b="0" i="0" u="none" strike="noStrike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터널 굴착 작업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2028730"/>
                  </a:ext>
                </a:extLst>
              </a:tr>
              <a:tr h="77977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</a:t>
                      </a:r>
                      <a:endParaRPr lang="ko-KR" altLang="en-US" sz="1000" b="0" i="0" u="none" strike="noStrike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골조</a:t>
                      </a:r>
                      <a:endParaRPr lang="en-US" altLang="ko-KR" sz="900" b="0" i="0" u="none" strike="noStrike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000" b="0" i="0" u="none" strike="noStrike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5m </a:t>
                      </a:r>
                      <a:r>
                        <a:rPr lang="ko-KR" altLang="en-US" sz="1000" b="0" i="0" u="none" strike="noStrike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이상 비계 </a:t>
                      </a:r>
                      <a:r>
                        <a:rPr lang="en-US" altLang="ko-KR" sz="1000" b="0" i="0" u="none" strike="noStrike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/ </a:t>
                      </a:r>
                      <a:r>
                        <a:rPr lang="ko-KR" altLang="en-US" sz="1000" b="0" i="0" u="none" strike="noStrike" dirty="0" err="1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동바리</a:t>
                      </a:r>
                      <a:r>
                        <a:rPr lang="ko-KR" altLang="en-US" sz="1000" b="0" i="0" u="none" strike="noStrike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설치</a:t>
                      </a:r>
                      <a:r>
                        <a:rPr lang="en-US" altLang="ko-KR" sz="1000" b="0" i="0" u="none" strike="noStrike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·</a:t>
                      </a:r>
                      <a:r>
                        <a:rPr lang="ko-KR" altLang="en-US" sz="1000" b="0" i="0" u="none" strike="noStrike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해체 작업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7809562"/>
                  </a:ext>
                </a:extLst>
              </a:tr>
              <a:tr h="77977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</a:t>
                      </a:r>
                      <a:endParaRPr lang="ko-KR" altLang="en-US" sz="1000" b="0" i="0" u="none" strike="noStrike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골조</a:t>
                      </a:r>
                      <a:endParaRPr lang="en-US" altLang="ko-KR" sz="900" b="0" i="0" u="none" strike="noStrike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err="1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갱폼</a:t>
                      </a:r>
                      <a:r>
                        <a:rPr lang="ko-KR" altLang="en-US" sz="1000" b="0" i="0" u="none" strike="noStrike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인상</a:t>
                      </a:r>
                      <a:r>
                        <a:rPr lang="en-US" altLang="ko-KR" sz="1000" b="0" i="0" u="none" strike="noStrike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·</a:t>
                      </a:r>
                      <a:r>
                        <a:rPr lang="ko-KR" altLang="en-US" sz="1000" b="0" i="0" u="none" strike="noStrike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해체 작업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9818387"/>
                  </a:ext>
                </a:extLst>
              </a:tr>
              <a:tr h="77977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</a:t>
                      </a:r>
                      <a:endParaRPr lang="ko-KR" altLang="en-US" sz="1000" b="0" i="0" u="none" strike="noStrike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골조</a:t>
                      </a:r>
                      <a:endParaRPr lang="en-US" altLang="ko-KR" sz="900" b="0" i="0" u="none" strike="noStrike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철골 </a:t>
                      </a:r>
                      <a:r>
                        <a:rPr lang="en-US" altLang="ko-KR" sz="1000" b="0" i="0" u="none" strike="noStrike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/ PC </a:t>
                      </a:r>
                      <a:r>
                        <a:rPr lang="ko-KR" altLang="en-US" sz="1000" b="0" i="0" u="none" strike="noStrike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설치</a:t>
                      </a:r>
                      <a:r>
                        <a:rPr lang="en-US" altLang="ko-KR" sz="1000" b="0" i="0" u="none" strike="noStrike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·</a:t>
                      </a:r>
                      <a:r>
                        <a:rPr lang="ko-KR" altLang="en-US" sz="1000" b="0" i="0" u="none" strike="noStrike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해체 작업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0368905"/>
                  </a:ext>
                </a:extLst>
              </a:tr>
              <a:tr h="77977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7</a:t>
                      </a:r>
                      <a:endParaRPr lang="ko-KR" altLang="en-US" sz="1000" b="0" i="0" u="none" strike="noStrike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골조</a:t>
                      </a:r>
                      <a:endParaRPr lang="en-US" altLang="ko-KR" sz="900" b="0" i="0" u="none" strike="noStrike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지붕 판넬 </a:t>
                      </a:r>
                      <a:r>
                        <a:rPr lang="en-US" altLang="ko-KR" sz="1000" b="0" i="0" u="none" strike="noStrike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/ </a:t>
                      </a:r>
                      <a:r>
                        <a:rPr lang="ko-KR" altLang="en-US" sz="1000" b="0" i="0" u="none" strike="noStrike" dirty="0" err="1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데크</a:t>
                      </a:r>
                      <a:r>
                        <a:rPr lang="ko-KR" altLang="en-US" sz="1000" b="0" i="0" u="none" strike="noStrike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설치 작업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2164593"/>
                  </a:ext>
                </a:extLst>
              </a:tr>
              <a:tr h="77977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8</a:t>
                      </a:r>
                      <a:endParaRPr lang="ko-KR" altLang="en-US" sz="1000" b="0" i="0" u="none" strike="noStrike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마감</a:t>
                      </a:r>
                      <a:endParaRPr lang="en-US" altLang="ko-KR" sz="900" b="0" i="0" u="none" strike="noStrike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곤돌라 </a:t>
                      </a:r>
                      <a:r>
                        <a:rPr lang="en-US" altLang="ko-KR" sz="1000" b="0" i="0" u="none" strike="noStrike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/ </a:t>
                      </a:r>
                      <a:r>
                        <a:rPr lang="ko-KR" altLang="en-US" sz="1000" b="0" i="0" u="none" strike="noStrike" dirty="0" err="1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달비계</a:t>
                      </a:r>
                      <a:r>
                        <a:rPr lang="ko-KR" altLang="en-US" sz="1000" b="0" i="0" u="none" strike="noStrike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사용 작업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6602116"/>
                  </a:ext>
                </a:extLst>
              </a:tr>
              <a:tr h="77977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교량</a:t>
                      </a:r>
                      <a:endParaRPr lang="en-US" altLang="ko-KR" sz="900" b="0" i="0" u="none" strike="noStrike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교량 설치 작업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538406"/>
                  </a:ext>
                </a:extLst>
              </a:tr>
              <a:tr h="77977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철거</a:t>
                      </a:r>
                      <a:endParaRPr lang="en-US" altLang="ko-KR" sz="900" b="0" i="0" u="none" strike="noStrike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철거 작업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8802351"/>
                  </a:ext>
                </a:extLst>
              </a:tr>
            </a:tbl>
          </a:graphicData>
        </a:graphic>
      </p:graphicFrame>
      <p:sp>
        <p:nvSpPr>
          <p:cNvPr id="48" name="타원 47">
            <a:extLst>
              <a:ext uri="{FF2B5EF4-FFF2-40B4-BE49-F238E27FC236}">
                <a16:creationId xmlns:a16="http://schemas.microsoft.com/office/drawing/2014/main" id="{2155EF21-E860-5BF7-00CE-AE004E43AA41}"/>
              </a:ext>
            </a:extLst>
          </p:cNvPr>
          <p:cNvSpPr/>
          <p:nvPr/>
        </p:nvSpPr>
        <p:spPr>
          <a:xfrm>
            <a:off x="3721100" y="2772833"/>
            <a:ext cx="139700" cy="1397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CC0CF82A-28A6-9F24-72CB-5F54E33C59EC}"/>
              </a:ext>
            </a:extLst>
          </p:cNvPr>
          <p:cNvSpPr/>
          <p:nvPr/>
        </p:nvSpPr>
        <p:spPr>
          <a:xfrm>
            <a:off x="3721100" y="3551766"/>
            <a:ext cx="139700" cy="1397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D2E66447-862C-B4E3-E2B5-838548F6BD35}"/>
              </a:ext>
            </a:extLst>
          </p:cNvPr>
          <p:cNvSpPr/>
          <p:nvPr/>
        </p:nvSpPr>
        <p:spPr>
          <a:xfrm>
            <a:off x="3721100" y="4330699"/>
            <a:ext cx="139700" cy="1397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0786B719-EFA0-18FD-C4AA-ECA5C0C0F27E}"/>
              </a:ext>
            </a:extLst>
          </p:cNvPr>
          <p:cNvSpPr/>
          <p:nvPr/>
        </p:nvSpPr>
        <p:spPr>
          <a:xfrm>
            <a:off x="3721100" y="5109632"/>
            <a:ext cx="139700" cy="1397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5888F006-D152-5DF7-C7A1-E1A557952F70}"/>
              </a:ext>
            </a:extLst>
          </p:cNvPr>
          <p:cNvSpPr/>
          <p:nvPr/>
        </p:nvSpPr>
        <p:spPr>
          <a:xfrm>
            <a:off x="3721100" y="5888565"/>
            <a:ext cx="139700" cy="1397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017CD8AE-96FF-2C24-3F41-2486C96B25E8}"/>
              </a:ext>
            </a:extLst>
          </p:cNvPr>
          <p:cNvSpPr/>
          <p:nvPr/>
        </p:nvSpPr>
        <p:spPr>
          <a:xfrm>
            <a:off x="3721100" y="6667498"/>
            <a:ext cx="139700" cy="1397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3CDD3E83-C423-F6CA-8276-829CBDA1ED33}"/>
              </a:ext>
            </a:extLst>
          </p:cNvPr>
          <p:cNvSpPr/>
          <p:nvPr/>
        </p:nvSpPr>
        <p:spPr>
          <a:xfrm>
            <a:off x="3721100" y="7446431"/>
            <a:ext cx="139700" cy="1397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755F3074-C9DA-AD81-FA91-AEA1B4668444}"/>
              </a:ext>
            </a:extLst>
          </p:cNvPr>
          <p:cNvSpPr/>
          <p:nvPr/>
        </p:nvSpPr>
        <p:spPr>
          <a:xfrm>
            <a:off x="3721100" y="8225364"/>
            <a:ext cx="139700" cy="1397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EE4E5D6C-C0EA-C879-9D81-1666C18AA09D}"/>
              </a:ext>
            </a:extLst>
          </p:cNvPr>
          <p:cNvSpPr/>
          <p:nvPr/>
        </p:nvSpPr>
        <p:spPr>
          <a:xfrm>
            <a:off x="3721100" y="9004300"/>
            <a:ext cx="139700" cy="1397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4AF506B4-6D62-9E3B-5A86-1746DE57C93E}"/>
              </a:ext>
            </a:extLst>
          </p:cNvPr>
          <p:cNvCxnSpPr>
            <a:cxnSpLocks/>
          </p:cNvCxnSpPr>
          <p:nvPr/>
        </p:nvCxnSpPr>
        <p:spPr>
          <a:xfrm>
            <a:off x="2850963" y="1697083"/>
            <a:ext cx="920937" cy="360317"/>
          </a:xfrm>
          <a:prstGeom prst="straightConnector1">
            <a:avLst/>
          </a:prstGeom>
          <a:ln w="3175" cap="rnd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타원 57">
            <a:extLst>
              <a:ext uri="{FF2B5EF4-FFF2-40B4-BE49-F238E27FC236}">
                <a16:creationId xmlns:a16="http://schemas.microsoft.com/office/drawing/2014/main" id="{D53E9C2A-E355-C3D2-3582-FC76228EBF72}"/>
              </a:ext>
            </a:extLst>
          </p:cNvPr>
          <p:cNvSpPr/>
          <p:nvPr/>
        </p:nvSpPr>
        <p:spPr>
          <a:xfrm>
            <a:off x="3721100" y="1993900"/>
            <a:ext cx="139700" cy="1397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5820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16"/>
          <p:cNvSpPr txBox="1">
            <a:spLocks/>
          </p:cNvSpPr>
          <p:nvPr/>
        </p:nvSpPr>
        <p:spPr>
          <a:xfrm>
            <a:off x="311730" y="516884"/>
            <a:ext cx="6354435" cy="8992125"/>
          </a:xfrm>
          <a:prstGeom prst="rect">
            <a:avLst/>
          </a:prstGeom>
        </p:spPr>
        <p:txBody>
          <a:bodyPr rIns="0"/>
          <a:lstStyle>
            <a:lvl1pPr marL="0" indent="-180000" algn="l" defTabSz="914228" rtl="0" eaLnBrk="1" latinLnBrk="1" hangingPunct="1">
              <a:lnSpc>
                <a:spcPct val="150000"/>
              </a:lnSpc>
              <a:spcBef>
                <a:spcPct val="20000"/>
              </a:spcBef>
              <a:buFont typeface="+mj-lt"/>
              <a:buAutoNum type="arabicPeriod"/>
              <a:defRPr lang="ko-KR" altLang="en-US" sz="1200" b="1" kern="1200" dirty="0" smtClean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96000" indent="-180000" algn="l" defTabSz="914341" rtl="0" eaLnBrk="1" latinLnBrk="1" hangingPunct="1">
              <a:lnSpc>
                <a:spcPts val="1500"/>
              </a:lnSpc>
              <a:spcBef>
                <a:spcPct val="20000"/>
              </a:spcBef>
              <a:buFont typeface="+mj-lt"/>
              <a:buAutoNum type="arabicParenR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12000" indent="-180000" algn="l" defTabSz="914341" rtl="0" eaLnBrk="1" latinLnBrk="1" hangingPunct="1">
              <a:lnSpc>
                <a:spcPts val="1250"/>
              </a:lnSpc>
              <a:spcBef>
                <a:spcPct val="20000"/>
              </a:spcBef>
              <a:buFont typeface="+mj-ea"/>
              <a:buAutoNum type="circleNumDbPlain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42" indent="0" algn="l" defTabSz="914341" rtl="0" eaLnBrk="1" latinLnBrk="1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68" indent="-228586" algn="l" defTabSz="914341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39" indent="-228586" algn="l" defTabSz="914341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10" indent="-228586" algn="l" defTabSz="914341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80" indent="-228586" algn="l" defTabSz="914341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51" indent="-228586" algn="l" defTabSz="914341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563" indent="0" defTabSz="1042988" fontAlgn="base" latinLnBrk="0">
              <a:spcAft>
                <a:spcPct val="0"/>
              </a:spcAft>
              <a:buNone/>
              <a:defRPr/>
            </a:pP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④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단계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위험성 결정</a:t>
            </a:r>
          </a:p>
          <a:p>
            <a:pPr marL="182563" indent="0" defTabSz="1042988" fontAlgn="base" latinLnBrk="0">
              <a:spcAft>
                <a:spcPct val="0"/>
              </a:spcAft>
              <a:buNone/>
              <a:defRPr/>
            </a:pP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☞ 위험성 수준은 유해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위험요인의 발생 가능성과 중대성을 평가하여 </a:t>
            </a:r>
            <a:b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&lt;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5.&gt;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와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6.&gt;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 따라 등급을 결정하고 관리토록 </a:t>
            </a:r>
            <a:r>
              <a:rPr lang="ko-KR" altLang="en-US" b="0">
                <a:latin typeface="맑은 고딕" panose="020B0503020000020004" pitchFamily="50" charset="-127"/>
                <a:ea typeface="맑은 고딕" panose="020B0503020000020004" pitchFamily="50" charset="-127"/>
              </a:rPr>
              <a:t>한다</a:t>
            </a:r>
            <a:r>
              <a:rPr lang="en-US" altLang="ko-KR" b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182563" indent="0" defTabSz="1042988" fontAlgn="base" latinLnBrk="0">
              <a:spcAft>
                <a:spcPct val="0"/>
              </a:spcAft>
              <a:buNone/>
              <a:defRPr/>
            </a:pPr>
            <a:r>
              <a:rPr lang="en-US" altLang="ko-KR"/>
              <a:t>     ※ &lt;</a:t>
            </a:r>
            <a:r>
              <a:rPr lang="ko-KR" altLang="en-US"/>
              <a:t>표 </a:t>
            </a:r>
            <a:r>
              <a:rPr lang="en-US" altLang="ko-KR"/>
              <a:t>7.&gt;</a:t>
            </a:r>
            <a:r>
              <a:rPr lang="ko-KR" altLang="en-US"/>
              <a:t>에 따른 작업 해당시 위험성 등급 판정 기준</a:t>
            </a:r>
            <a:endParaRPr lang="en-US" altLang="ko-KR"/>
          </a:p>
          <a:p>
            <a:pPr marL="182563" indent="0" defTabSz="1042988" fontAlgn="base" latinLnBrk="0">
              <a:spcAft>
                <a:spcPct val="0"/>
              </a:spcAft>
              <a:buNone/>
              <a:defRPr/>
            </a:pPr>
            <a:r>
              <a:rPr lang="en-US" altLang="ko-KR"/>
              <a:t>        - 10</a:t>
            </a:r>
            <a:r>
              <a:rPr lang="ko-KR" altLang="en-US"/>
              <a:t>대 사망사고 다발작업 해당 </a:t>
            </a:r>
            <a:r>
              <a:rPr lang="en-US" altLang="ko-KR"/>
              <a:t>: </a:t>
            </a:r>
            <a:r>
              <a:rPr lang="en-US" altLang="ko-KR" u="sng">
                <a:solidFill>
                  <a:srgbClr val="FF0000"/>
                </a:solidFill>
              </a:rPr>
              <a:t>S</a:t>
            </a:r>
            <a:r>
              <a:rPr lang="ko-KR" altLang="en-US" u="sng">
                <a:solidFill>
                  <a:srgbClr val="FF0000"/>
                </a:solidFill>
              </a:rPr>
              <a:t>등급 고정</a:t>
            </a:r>
            <a:endParaRPr lang="en-US" altLang="ko-KR" u="sng">
              <a:solidFill>
                <a:srgbClr val="FF0000"/>
              </a:solidFill>
            </a:endParaRPr>
          </a:p>
          <a:p>
            <a:pPr marL="182563" indent="0" defTabSz="1042988" fontAlgn="base" latinLnBrk="0">
              <a:spcAft>
                <a:spcPct val="0"/>
              </a:spcAft>
              <a:buNone/>
              <a:defRPr/>
            </a:pPr>
            <a:r>
              <a:rPr lang="en-US" altLang="ko-KR"/>
              <a:t>        - </a:t>
            </a:r>
            <a:r>
              <a:rPr lang="ko-KR" altLang="en-US"/>
              <a:t>고위험작업 해당 </a:t>
            </a:r>
            <a:r>
              <a:rPr lang="en-US" altLang="ko-KR"/>
              <a:t>: </a:t>
            </a:r>
            <a:r>
              <a:rPr lang="en-US" altLang="ko-KR" u="sng">
                <a:solidFill>
                  <a:srgbClr val="FF0000"/>
                </a:solidFill>
              </a:rPr>
              <a:t>A</a:t>
            </a:r>
            <a:r>
              <a:rPr lang="ko-KR" altLang="en-US" u="sng">
                <a:solidFill>
                  <a:srgbClr val="FF0000"/>
                </a:solidFill>
              </a:rPr>
              <a:t>등급 고정</a:t>
            </a:r>
            <a:endParaRPr lang="en-US" altLang="ko-KR" u="sng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82563" indent="0" defTabSz="1042988" fontAlgn="base" latinLnBrk="0">
              <a:spcAft>
                <a:spcPct val="0"/>
              </a:spcAft>
              <a:buNone/>
              <a:defRPr/>
            </a:pP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⑤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단계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위험성 감소대책 수립 및 실행</a:t>
            </a:r>
          </a:p>
          <a:p>
            <a:pPr marL="182563" indent="0" defTabSz="1042988" fontAlgn="base" latinLnBrk="0">
              <a:spcAft>
                <a:spcPct val="0"/>
              </a:spcAft>
              <a:buNone/>
              <a:defRPr/>
            </a:pP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☞ 위험성 </a:t>
            </a:r>
            <a:r>
              <a:rPr lang="ko-KR" altLang="en-US" b="0">
                <a:latin typeface="맑은 고딕" panose="020B0503020000020004" pitchFamily="50" charset="-127"/>
                <a:ea typeface="맑은 고딕" panose="020B0503020000020004" pitchFamily="50" charset="-127"/>
              </a:rPr>
              <a:t>수준이 보통이상으로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판정된 위험성에 대해서는 위험성 </a:t>
            </a:r>
            <a:b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감소대책을 수립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실행하여 허용가능 위험의 범위로 들어오도록 하고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b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필요 시 추가 감소대책 수립 </a:t>
            </a:r>
            <a:r>
              <a:rPr lang="en-US" altLang="ko-KR" b="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b="0">
                <a:latin typeface="맑은 고딕" panose="020B0503020000020004" pitchFamily="50" charset="-127"/>
                <a:ea typeface="맑은 고딕" panose="020B0503020000020004" pitchFamily="50" charset="-127"/>
              </a:rPr>
              <a:t>실행</a:t>
            </a:r>
            <a:br>
              <a:rPr lang="en-US" altLang="ko-KR" b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/>
              <a:t>        - 10</a:t>
            </a:r>
            <a:r>
              <a:rPr lang="ko-KR" altLang="en-US"/>
              <a:t>대 사망사고 다발작업</a:t>
            </a:r>
            <a:r>
              <a:rPr lang="en-US" altLang="ko-KR"/>
              <a:t>, </a:t>
            </a:r>
            <a:r>
              <a:rPr lang="ko-KR" altLang="en-US"/>
              <a:t>고위험작업 </a:t>
            </a:r>
            <a:r>
              <a:rPr lang="en-US" altLang="ko-KR"/>
              <a:t>: </a:t>
            </a:r>
            <a:r>
              <a:rPr lang="ko-KR" altLang="en-US" u="sng">
                <a:solidFill>
                  <a:srgbClr val="FF0000"/>
                </a:solidFill>
              </a:rPr>
              <a:t>개선 후 위험성등급 </a:t>
            </a:r>
            <a:r>
              <a:rPr lang="en-US" altLang="ko-KR" u="sng">
                <a:solidFill>
                  <a:srgbClr val="FF0000"/>
                </a:solidFill>
              </a:rPr>
              <a:t>A</a:t>
            </a:r>
            <a:r>
              <a:rPr lang="ko-KR" altLang="en-US" u="sng">
                <a:solidFill>
                  <a:srgbClr val="FF0000"/>
                </a:solidFill>
              </a:rPr>
              <a:t>등급 고정</a:t>
            </a:r>
            <a:endParaRPr lang="en-US" altLang="ko-KR" b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82563" indent="0" defTabSz="1042988" fontAlgn="base" latinLnBrk="0">
              <a:spcAft>
                <a:spcPct val="0"/>
              </a:spcAft>
              <a:buNone/>
              <a:defRPr/>
            </a:pPr>
            <a:r>
              <a:rPr lang="en-US" altLang="ko-KR" b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※ </a:t>
            </a:r>
            <a:r>
              <a:rPr lang="ko-KR" altLang="ko-KR" dirty="0"/>
              <a:t>작업이 예정된 기간에 작업내용을 자산안전팀에 </a:t>
            </a:r>
            <a:r>
              <a:rPr lang="ko-KR" altLang="ko-KR"/>
              <a:t>공유하고 </a:t>
            </a:r>
            <a:r>
              <a:rPr lang="ko-KR" altLang="en-US"/>
              <a:t>자산안전팀에서 </a:t>
            </a:r>
            <a:br>
              <a:rPr lang="en-US" altLang="ko-KR"/>
            </a:br>
            <a:r>
              <a:rPr lang="en-US" altLang="ko-KR"/>
              <a:t>       </a:t>
            </a:r>
            <a:r>
              <a:rPr lang="ko-KR" altLang="en-US"/>
              <a:t>요청한 사항을 </a:t>
            </a:r>
            <a:r>
              <a:rPr lang="ko-KR" altLang="ko-KR"/>
              <a:t>이행한 경우에만 </a:t>
            </a:r>
            <a:r>
              <a:rPr lang="ko-KR" altLang="ko-KR" dirty="0"/>
              <a:t>개선 후 위험성 등급을 </a:t>
            </a:r>
            <a:r>
              <a:rPr lang="en-US" altLang="ko-KR" dirty="0"/>
              <a:t>“A”</a:t>
            </a:r>
            <a:r>
              <a:rPr lang="ko-KR" altLang="ko-KR" dirty="0"/>
              <a:t>로 변경한 </a:t>
            </a:r>
            <a:r>
              <a:rPr lang="ko-KR" altLang="ko-KR"/>
              <a:t>것이 인정된다</a:t>
            </a:r>
            <a:r>
              <a:rPr lang="en-US" altLang="ko-KR"/>
              <a:t>.</a:t>
            </a:r>
            <a:endParaRPr lang="en-US" altLang="ko-KR" b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82563" indent="0" defTabSz="1042988" fontAlgn="base" latinLnBrk="0">
              <a:spcAft>
                <a:spcPct val="0"/>
              </a:spcAft>
              <a:buNone/>
              <a:defRPr/>
            </a:pPr>
            <a:r>
              <a:rPr lang="ko-KR" altLang="en-US" b="0">
                <a:latin typeface="맑은 고딕" panose="020B0503020000020004" pitchFamily="50" charset="-127"/>
                <a:ea typeface="맑은 고딕" panose="020B0503020000020004" pitchFamily="50" charset="-127"/>
              </a:rPr>
              <a:t>⑥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단계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 </a:t>
            </a:r>
            <a:r>
              <a:rPr lang="ko-KR" altLang="en-US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록</a:t>
            </a:r>
            <a:endParaRPr lang="ko-KR" altLang="en-US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82563" indent="0" defTabSz="1042988" fontAlgn="base" latinLnBrk="0">
              <a:spcAft>
                <a:spcPct val="0"/>
              </a:spcAft>
              <a:buNone/>
              <a:defRPr/>
            </a:pP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☞ 위험성 평가를 수행한 결과를 관계자들에게 교육하거나 </a:t>
            </a:r>
            <a:r>
              <a:rPr lang="ko-KR" altLang="en-US" b="0">
                <a:latin typeface="맑은 고딕" panose="020B0503020000020004" pitchFamily="50" charset="-127"/>
                <a:ea typeface="맑은 고딕" panose="020B0503020000020004" pitchFamily="50" charset="-127"/>
              </a:rPr>
              <a:t>공유하기 위하여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기록</a:t>
            </a: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82563" indent="0" defTabSz="1042988" fontAlgn="base" latinLnBrk="0">
              <a:spcAft>
                <a:spcPct val="0"/>
              </a:spcAft>
              <a:buNone/>
              <a:defRPr/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82563" indent="-182563" defTabSz="1042988" fontAlgn="base" latinLnBrk="0">
              <a:spcAft>
                <a:spcPct val="0"/>
              </a:spcAft>
              <a:buNone/>
              <a:defRPr/>
            </a:pP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주지방법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사업주는 구성원들이 알 수 있도록 위험성평가 방침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추진목표 및 그 밖의 주지사항을 회의 또는 </a:t>
            </a:r>
            <a:r>
              <a:rPr lang="ko-KR" altLang="en-US" b="0">
                <a:latin typeface="맑은 고딕" panose="020B0503020000020004" pitchFamily="50" charset="-127"/>
                <a:ea typeface="맑은 고딕" panose="020B0503020000020004" pitchFamily="50" charset="-127"/>
              </a:rPr>
              <a:t>행사 등에서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홍보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주지시키고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읽을 수 있도록 사내에 </a:t>
            </a:r>
            <a:r>
              <a:rPr lang="ko-KR" altLang="en-US" b="0">
                <a:latin typeface="맑은 고딕" panose="020B0503020000020004" pitchFamily="50" charset="-127"/>
                <a:ea typeface="맑은 고딕" panose="020B0503020000020004" pitchFamily="50" charset="-127"/>
              </a:rPr>
              <a:t>공지한다</a:t>
            </a:r>
            <a:r>
              <a:rPr lang="en-US" altLang="ko-KR" b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82563" indent="-182563" defTabSz="1042988" fontAlgn="base" latinLnBrk="0">
              <a:spcAft>
                <a:spcPct val="0"/>
              </a:spcAft>
              <a:buNone/>
              <a:defRPr/>
            </a:pP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유의사항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① 위험성 평가 담담당자는 산업안전보건법 기타 요구사항에 적합한 상태인지를 확인하고 미달하고 있는 경우에는 대표에서 보고한 후 위험성 수준이 높은 것부터 우선적으로 위험성 감소대책을 반영하여 개선한다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b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② 사업주는 제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항에 따른 감소조치 결과 당해 위험성 감소조치가 충분하지 않다고 판단하는 경우에는 담당자에게 조치의 재검토를 지시할 수 있다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b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③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사업주는 감소대책을 수립 실행할 때 소요되는 예산을 지원하여야 </a:t>
            </a:r>
            <a:r>
              <a:rPr lang="ko-KR" altLang="en-US" b="0">
                <a:latin typeface="맑은 고딕" panose="020B0503020000020004" pitchFamily="50" charset="-127"/>
                <a:ea typeface="맑은 고딕" panose="020B0503020000020004" pitchFamily="50" charset="-127"/>
              </a:rPr>
              <a:t>한다</a:t>
            </a:r>
            <a:r>
              <a:rPr lang="en-US" altLang="ko-KR" b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82563" indent="-182563" defTabSz="1042988" fontAlgn="base" latinLnBrk="0">
              <a:spcAft>
                <a:spcPct val="0"/>
              </a:spcAft>
              <a:buNone/>
              <a:defRPr/>
            </a:pP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11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기록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①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위험성 평가 기록은 필요 시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출력하여 대표에게 승인 받는다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b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②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위험성 평가 기록은 우리 회사 안전보건 기록관련 규정에 준하여 </a:t>
            </a:r>
            <a:r>
              <a:rPr lang="ko-KR" altLang="en-US" b="0">
                <a:latin typeface="맑은 고딕" panose="020B0503020000020004" pitchFamily="50" charset="-127"/>
                <a:ea typeface="맑은 고딕" panose="020B0503020000020004" pitchFamily="50" charset="-127"/>
              </a:rPr>
              <a:t>보관하되 특별한 사정이 없는 한 전산시스템</a:t>
            </a:r>
            <a:r>
              <a:rPr lang="en-US" altLang="ko-KR" b="0">
                <a:latin typeface="맑은 고딕" panose="020B0503020000020004" pitchFamily="50" charset="-127"/>
                <a:ea typeface="맑은 고딕" panose="020B0503020000020004" pitchFamily="50" charset="-127"/>
              </a:rPr>
              <a:t>(GePMS)</a:t>
            </a:r>
            <a:r>
              <a:rPr lang="ko-KR" altLang="en-US" b="0">
                <a:latin typeface="맑은 고딕" panose="020B0503020000020004" pitchFamily="50" charset="-127"/>
                <a:ea typeface="맑은 고딕" panose="020B0503020000020004" pitchFamily="50" charset="-127"/>
              </a:rPr>
              <a:t>을 활용하여 작성하고 관리되어야 한다</a:t>
            </a:r>
            <a:r>
              <a:rPr lang="en-US" altLang="ko-KR" b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b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③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기록은 연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회 정도 정기적으로 검토를 하고 근로자의 의견을 반영한 후에 변경 여부를 결정하며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모든 근로자가 알 수 있도록 배부 또는 게시한다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182563" indent="-182563" algn="r" defTabSz="1042988" fontAlgn="base" latinLnBrk="0">
              <a:spcAft>
                <a:spcPct val="0"/>
              </a:spcAft>
              <a:buNone/>
              <a:defRPr/>
            </a:pP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끝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-.</a:t>
            </a:r>
          </a:p>
          <a:p>
            <a:pPr marL="182563" indent="-182563" defTabSz="1042988" fontAlgn="base" latinLnBrk="0">
              <a:spcAft>
                <a:spcPct val="0"/>
              </a:spcAft>
              <a:buNone/>
              <a:defRPr/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82563" indent="-182563" defTabSz="1042988" fontAlgn="base" latinLnBrk="0">
              <a:spcAft>
                <a:spcPct val="0"/>
              </a:spcAft>
              <a:buNone/>
              <a:defRPr/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42925" indent="-542925" defTabSz="1042988" fontAlgn="base" latinLnBrk="0">
              <a:spcAft>
                <a:spcPct val="0"/>
              </a:spcAft>
              <a:buNone/>
              <a:defRPr/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42925" indent="-542925" defTabSz="1042988" fontAlgn="base" latinLnBrk="0">
              <a:spcAft>
                <a:spcPct val="0"/>
              </a:spcAft>
              <a:buNone/>
              <a:defRPr/>
            </a:pPr>
            <a:endParaRPr lang="ko-KR" altLang="en-US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42925" indent="-4763" defTabSz="1042988" fontAlgn="base" latinLnBrk="0">
              <a:spcAft>
                <a:spcPct val="0"/>
              </a:spcAft>
              <a:buNone/>
              <a:defRPr/>
            </a:pPr>
            <a:endParaRPr lang="ko-KR" altLang="en-US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42925" indent="-4763" defTabSz="1042988" fontAlgn="base" latinLnBrk="0">
              <a:spcAft>
                <a:spcPct val="0"/>
              </a:spcAft>
              <a:buNone/>
              <a:defRPr/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42925" indent="-542925" defTabSz="1042988" fontAlgn="base" latinLnBrk="0">
              <a:spcAft>
                <a:spcPct val="0"/>
              </a:spcAft>
              <a:buNone/>
              <a:defRPr/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42925" indent="-542925" defTabSz="1042988" fontAlgn="base" latinLnBrk="0">
              <a:spcAft>
                <a:spcPct val="0"/>
              </a:spcAft>
              <a:buNone/>
              <a:defRPr/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42925" indent="-542925" defTabSz="1042988" fontAlgn="base" latinLnBrk="0">
              <a:spcAft>
                <a:spcPct val="0"/>
              </a:spcAft>
              <a:buNone/>
              <a:defRPr/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42925" indent="-542925" defTabSz="1042988" fontAlgn="base" latinLnBrk="0">
              <a:spcAft>
                <a:spcPct val="0"/>
              </a:spcAft>
              <a:buNone/>
              <a:defRPr/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42925" indent="-542925" defTabSz="1042988" fontAlgn="base" latinLnBrk="0">
              <a:spcAft>
                <a:spcPct val="0"/>
              </a:spcAft>
              <a:buNone/>
              <a:defRPr/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42925" indent="-542925" defTabSz="1042988" fontAlgn="base" latinLnBrk="0">
              <a:spcAft>
                <a:spcPct val="0"/>
              </a:spcAft>
              <a:buNone/>
              <a:defRPr/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732729">
            <a:off x="1615283" y="4459181"/>
            <a:ext cx="3627434" cy="987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81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a11ee6e5-21a0-48c4-8af4-6cc1347f763e}" enabled="1" method="Privileged" siteId="{a27ddcc1-bea5-4183-aa29-fd96d7612a1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Words>2212</Words>
  <TotalTime>0</TotalTime>
  <Application>Microsoft Office PowerPoint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심현규</dc:creator>
  <dcterms:modified xsi:type="dcterms:W3CDTF">2026-01-05T01:45:56Z</dcterms:modified>
  <dc:title>슬라이드 1</dc:title>
  <cp:lastPrinted>2025-05-28T04:07:42Z</cp:lastPrinted>
  <cp:lastModifiedBy>임진규(LIMJINGYU) 매니저</cp:lastModifiedBy>
  <dcterms:created xsi:type="dcterms:W3CDTF">2011-04-21T04:31:05Z</dcterms:created>
  <cp:revision>196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dcaf456-5176-400c-b0e6-6301b2c47597_SiteId">
    <vt:lpwstr>a27ddcc1-bea5-4183-aa29-fd96d7612a1d</vt:lpwstr>
  </property>
  <property fmtid="{D5CDD505-2E9C-101B-9397-08002B2CF9AE}" pid="3" name="MSIP_Label_cdcaf456-5176-400c-b0e6-6301b2c47597_SetDate">
    <vt:lpwstr>2025-12-19T04:52:43Z</vt:lpwstr>
  </property>
  <property fmtid="{D5CDD505-2E9C-101B-9397-08002B2CF9AE}" pid="4" name="MSIP_Label_cdcaf456-5176-400c-b0e6-6301b2c47597_Name">
    <vt:lpwstr>대외비(Restricted)</vt:lpwstr>
  </property>
  <property fmtid="{D5CDD505-2E9C-101B-9397-08002B2CF9AE}" pid="5" name="MSIP_Label_cdcaf456-5176-400c-b0e6-6301b2c47597_Method">
    <vt:lpwstr>Privileged</vt:lpwstr>
  </property>
  <property fmtid="{D5CDD505-2E9C-101B-9397-08002B2CF9AE}" pid="6" name="MSIP_Label_cdcaf456-5176-400c-b0e6-6301b2c47597_Enabled">
    <vt:lpwstr>true</vt:lpwstr>
  </property>
  <property fmtid="{D5CDD505-2E9C-101B-9397-08002B2CF9AE}" pid="7" name="MSIP_Label_cdcaf456-5176-400c-b0e6-6301b2c47597_ContentBits">
    <vt:lpwstr>8</vt:lpwstr>
  </property>
</Properties>
</file>